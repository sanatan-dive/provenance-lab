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6.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7.xml" ContentType="application/vnd.openxmlformats-officedocument.drawingml.chart+xml"/>
  <Override PartName="/ppt/charts/chart18.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e923ac5-c7b2-3aa7-71cd-d10ca554191a}">
          <p14:sldIdLst>
            <p14:sldId id="256"/>
            <p14:sldId id="257"/>
            <p14:sldId id="258"/>
          </p14:sldIdLst>
        </p14:section>
        <p14:section name="Method" id="{c12ea45d-3684-f8f4-1d73-01d8ec27b619}">
          <p14:sldIdLst>
            <p14:sldId id="259"/>
            <p14:sldId id="260"/>
            <p14:sldId id="261"/>
          </p14:sldIdLst>
        </p14:section>
        <p14:section name="Experiments" id="{da8581b3-8c03-8b44-2415-72be64477ee5}">
          <p14:sldIdLst>
            <p14:sldId id="262"/>
            <p14:sldId id="263"/>
            <p14:sldId id="264"/>
            <p14:sldId id="265"/>
            <p14:sldId id="266"/>
            <p14:sldId id="267"/>
            <p14:sldId id="268"/>
            <p14:sldId id="269"/>
            <p14:sldId id="270"/>
            <p14:sldId id="271"/>
            <p14:sldId id="272"/>
            <p14:sldId id="273"/>
            <p14:sldId id="274"/>
            <p14:sldId id="275"/>
          </p14:sldIdLst>
        </p14:section>
        <p14:section name="System" id="{a05335ea-12e1-c5c2-4af2-f19d286d2cbb}">
          <p14:sldIdLst>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5A3FD0"/>
            </a:solidFill>
            <a:effectLst/>
          </c:spPr>
          <c:invertIfNegative val="0"/>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Sheet1!$A$2:$A$5</c:f>
              <c:multiLvlStrCache>
                <c:ptCount val="4"/>
                <c:lvl>
                  <c:pt idx="0">
                    <c:v>Essays</c:v>
                  </c:pt>
                  <c:pt idx="1">
                    <c:v>Code</c:v>
                  </c:pt>
                  <c:pt idx="2">
                    <c:v>Images</c:v>
                  </c:pt>
                  <c:pt idx="3">
                    <c:v>Voice</c:v>
                  </c:pt>
                </c:lvl>
              </c:multiLvlStrCache>
            </c:multiLvlStrRef>
          </c:cat>
          <c:val>
            <c:numRef>
              <c:f>Sheet1!$B$2:$B$5</c:f>
              <c:numCache>
                <c:formatCode>General</c:formatCode>
                <c:ptCount val="4"/>
                <c:pt idx="0">
                  <c:v>98.3</c:v>
                </c:pt>
                <c:pt idx="1">
                  <c:v>97.6</c:v>
                </c:pt>
                <c:pt idx="2">
                  <c:v>90.7</c:v>
                </c:pt>
                <c:pt idx="3">
                  <c:v>95</c:v>
                </c:pt>
              </c:numCache>
            </c:numRef>
          </c:val>
        </c:ser>
        <c:ser>
          <c:idx val="1"/>
          <c:order val="1"/>
          <c:tx>
            <c:strRef>
              <c:f>Sheet1!$C$1</c:f>
              <c:strCache>
                <c:ptCount val="1"/>
                <c:pt idx="0">
                  <c:v>F1</c:v>
                </c:pt>
              </c:strCache>
            </c:strRef>
          </c:tx>
          <c:spPr>
            <a:solidFill>
              <a:srgbClr val="8E7BE6"/>
            </a:solidFill>
            <a:effectLst/>
          </c:spPr>
          <c:invertIfNegative val="0"/>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Sheet1!$A$2:$A$5</c:f>
              <c:multiLvlStrCache>
                <c:ptCount val="4"/>
                <c:lvl>
                  <c:pt idx="0">
                    <c:v>Essays</c:v>
                  </c:pt>
                  <c:pt idx="1">
                    <c:v>Code</c:v>
                  </c:pt>
                  <c:pt idx="2">
                    <c:v>Images</c:v>
                  </c:pt>
                  <c:pt idx="3">
                    <c:v>Voice</c:v>
                  </c:pt>
                </c:lvl>
              </c:multiLvlStrCache>
            </c:multiLvlStrRef>
          </c:cat>
          <c:val>
            <c:numRef>
              <c:f>Sheet1!$C$2:$C$5</c:f>
              <c:numCache>
                <c:formatCode>General</c:formatCode>
                <c:ptCount val="4"/>
                <c:pt idx="0">
                  <c:v>98.3</c:v>
                </c:pt>
                <c:pt idx="1">
                  <c:v>97.6</c:v>
                </c:pt>
                <c:pt idx="2">
                  <c:v>90.6</c:v>
                </c:pt>
                <c:pt idx="3">
                  <c:v>94.9</c:v>
                </c:pt>
              </c:numCache>
            </c:numRef>
          </c:val>
        </c:ser>
        <c:ser>
          <c:idx val="2"/>
          <c:order val="2"/>
          <c:tx>
            <c:strRef>
              <c:f>Sheet1!$D$1</c:f>
              <c:strCache>
                <c:ptCount val="1"/>
                <c:pt idx="0">
                  <c:v>AUC-ROC ×100</c:v>
                </c:pt>
              </c:strCache>
            </c:strRef>
          </c:tx>
          <c:spPr>
            <a:solidFill>
              <a:srgbClr val="13202A"/>
            </a:solidFill>
            <a:effectLst/>
          </c:spPr>
          <c:invertIfNegative val="0"/>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Sheet1!$A$2:$A$5</c:f>
              <c:multiLvlStrCache>
                <c:ptCount val="4"/>
                <c:lvl>
                  <c:pt idx="0">
                    <c:v>Essays</c:v>
                  </c:pt>
                  <c:pt idx="1">
                    <c:v>Code</c:v>
                  </c:pt>
                  <c:pt idx="2">
                    <c:v>Images</c:v>
                  </c:pt>
                  <c:pt idx="3">
                    <c:v>Voice</c:v>
                  </c:pt>
                </c:lvl>
              </c:multiLvlStrCache>
            </c:multiLvlStrRef>
          </c:cat>
          <c:val>
            <c:numRef>
              <c:f>Sheet1!$D$2:$D$5</c:f>
              <c:numCache>
                <c:formatCode>General</c:formatCode>
                <c:ptCount val="4"/>
                <c:pt idx="0">
                  <c:v>99.9</c:v>
                </c:pt>
                <c:pt idx="1">
                  <c:v>99.6</c:v>
                </c:pt>
                <c:pt idx="2">
                  <c:v>97.1</c:v>
                </c:pt>
                <c:pt idx="3">
                  <c:v>98.8</c:v>
                </c:pt>
              </c:numCache>
            </c:numRef>
          </c:val>
        </c:ser>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D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A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Voice accuracy (%): ElevenLabs, Polly, Hume, ...</a:t>
            </a:r>
          </a:p>
        </c:rich>
      </c:tx>
      <c:layout/>
      <c:overlay val="0"/>
    </c:title>
    <c:autoTitleDeleted val="0"/>
    <c:plotArea>
      <c:layout/>
      <c:barChart>
        <c:barDir val="col"/>
        <c:grouping val="clustered"/>
        <c:varyColors val="0"/>
        <c:ser>
          <c:idx val="0"/>
          <c:order val="0"/>
          <c:tx>
            <c:strRef>
              <c:f>Sheet1!$B$1</c:f>
              <c:strCache>
                <c:ptCount val="1"/>
                <c:pt idx="0">
                  <c:v>Trained on ASVspoof 2019 only</c:v>
                </c:pt>
              </c:strCache>
            </c:strRef>
          </c:tx>
          <c:spPr>
            <a:solidFill>
              <a:srgbClr val="9AA8B1"/>
            </a:solidFill>
            <a:effectLst/>
          </c:spPr>
          <c:invertIfNegative val="0"/>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Sheet1!$A$2:$A$3</c:f>
              <c:multiLvlStrCache>
                <c:ptCount val="2"/>
                <c:lvl>
                  <c:pt idx="0">
                    <c:v>ASVspoof 2019</c:v>
                  </c:pt>
                  <c:pt idx="1">
                    <c:v>Modern TTS</c:v>
                  </c:pt>
                </c:lvl>
              </c:multiLvlStrCache>
            </c:multiLvlStrRef>
          </c:cat>
          <c:val>
            <c:numRef>
              <c:f>Sheet1!$B$2:$B$3</c:f>
              <c:numCache>
                <c:formatCode>General</c:formatCode>
                <c:ptCount val="2"/>
                <c:pt idx="0">
                  <c:v>96.3</c:v>
                </c:pt>
                <c:pt idx="1">
                  <c:v>31.9</c:v>
                </c:pt>
              </c:numCache>
            </c:numRef>
          </c:val>
        </c:ser>
        <c:ser>
          <c:idx val="1"/>
          <c:order val="1"/>
          <c:tx>
            <c:strRef>
              <c:f>Sheet1!$C$1</c:f>
              <c:strCache>
                <c:ptCount val="1"/>
                <c:pt idx="0">
                  <c:v>+ modern TTS in training</c:v>
                </c:pt>
              </c:strCache>
            </c:strRef>
          </c:tx>
          <c:spPr>
            <a:solidFill>
              <a:srgbClr val="5A3FD0"/>
            </a:solidFill>
            <a:effectLst/>
          </c:spPr>
          <c:invertIfNegative val="0"/>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Sheet1!$A$2:$A$3</c:f>
              <c:multiLvlStrCache>
                <c:ptCount val="2"/>
                <c:lvl>
                  <c:pt idx="0">
                    <c:v>ASVspoof 2019</c:v>
                  </c:pt>
                  <c:pt idx="1">
                    <c:v>Modern TTS</c:v>
                  </c:pt>
                </c:lvl>
              </c:multiLvlStrCache>
            </c:multiLvlStrRef>
          </c:cat>
          <c:val>
            <c:numRef>
              <c:f>Sheet1!$C$2:$C$3</c:f>
              <c:numCache>
                <c:formatCode>General</c:formatCode>
                <c:ptCount val="2"/>
                <c:pt idx="0">
                  <c:v>95.3</c:v>
                </c:pt>
                <c:pt idx="1">
                  <c:v>94.3</c:v>
                </c:pt>
              </c:numCache>
            </c:numRef>
          </c:val>
        </c:ser>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D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A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Images at 224 px (GenImage): % correct</a:t>
            </a:r>
          </a:p>
        </c:rich>
      </c:tx>
      <c:layout/>
      <c:overlay val="0"/>
    </c:title>
    <c:autoTitleDeleted val="0"/>
    <c:plotArea>
      <c:layout/>
      <c:barChart>
        <c:barDir val="bar"/>
        <c:grouping val="clustered"/>
        <c:varyColors val="0"/>
        <c:ser>
          <c:idx val="0"/>
          <c:order val="0"/>
          <c:tx>
            <c:strRef>
              <c:f>Sheet1!$B$1</c:f>
              <c:strCache>
                <c:ptCount val="1"/>
                <c:pt idx="0">
                  <c:v>Correct</c:v>
                </c:pt>
              </c:strCache>
            </c:strRef>
          </c:tx>
          <c:spPr>
            <a:solidFill>
              <a:srgbClr val="5A3FD0"/>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Sheet1!$A$2:$A$9</c:f>
              <c:multiLvlStrCache>
                <c:ptCount val="8"/>
                <c:lvl>
                  <c:pt idx="0">
                    <c:v>Real photos</c:v>
                  </c:pt>
                  <c:pt idx="1">
                    <c:v>ADM</c:v>
                  </c:pt>
                  <c:pt idx="2">
                    <c:v>BigGAN</c:v>
                  </c:pt>
                  <c:pt idx="3">
                    <c:v>GLIDE</c:v>
                  </c:pt>
                  <c:pt idx="4">
                    <c:v>Midjourney</c:v>
                  </c:pt>
                  <c:pt idx="5">
                    <c:v>SD15</c:v>
                  </c:pt>
                  <c:pt idx="6">
                    <c:v>VQDM</c:v>
                  </c:pt>
                  <c:pt idx="7">
                    <c:v>Wukong</c:v>
                  </c:pt>
                </c:lvl>
              </c:multiLvlStrCache>
            </c:multiLvlStrRef>
          </c:cat>
          <c:val>
            <c:numRef>
              <c:f>Sheet1!$B$2:$B$9</c:f>
              <c:numCache>
                <c:formatCode>General</c:formatCode>
                <c:ptCount val="8"/>
                <c:pt idx="0">
                  <c:v>91</c:v>
                </c:pt>
                <c:pt idx="1">
                  <c:v>88</c:v>
                </c:pt>
                <c:pt idx="2">
                  <c:v>99</c:v>
                </c:pt>
                <c:pt idx="3">
                  <c:v>99</c:v>
                </c:pt>
                <c:pt idx="4">
                  <c:v>85</c:v>
                </c:pt>
                <c:pt idx="5">
                  <c:v>89</c:v>
                </c:pt>
                <c:pt idx="6">
                  <c:v>92</c:v>
                </c:pt>
                <c:pt idx="7">
                  <c:v>82</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Test accuracy (%)</a:t>
            </a:r>
          </a:p>
        </c:rich>
      </c:tx>
      <c:layout/>
      <c:overlay val="0"/>
    </c:title>
    <c:autoTitleDeleted val="0"/>
    <c:plotArea>
      <c:layout/>
      <c:barChart>
        <c:barDir val="col"/>
        <c:grouping val="clustered"/>
        <c:varyColors val="0"/>
        <c:ser>
          <c:idx val="0"/>
          <c:order val="0"/>
          <c:tx>
            <c:strRef>
              <c:f>Sheet1!$B$1</c:f>
              <c:strCache>
                <c:ptCount val="1"/>
                <c:pt idx="0">
                  <c:v>Best simple method</c:v>
                </c:pt>
              </c:strCache>
            </c:strRef>
          </c:tx>
          <c:spPr>
            <a:solidFill>
              <a:srgbClr val="9AA8B1"/>
            </a:solidFill>
            <a:effectLst/>
          </c:spPr>
          <c:invertIfNegative val="0"/>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Sheet1!$A$2:$A$5</c:f>
              <c:multiLvlStrCache>
                <c:ptCount val="4"/>
                <c:lvl>
                  <c:pt idx="0">
                    <c:v>Essays</c:v>
                  </c:pt>
                  <c:pt idx="1">
                    <c:v>Code</c:v>
                  </c:pt>
                  <c:pt idx="2">
                    <c:v>Images</c:v>
                  </c:pt>
                  <c:pt idx="3">
                    <c:v>Voice</c:v>
                  </c:pt>
                </c:lvl>
              </c:multiLvlStrCache>
            </c:multiLvlStrRef>
          </c:cat>
          <c:val>
            <c:numRef>
              <c:f>Sheet1!$B$2:$B$5</c:f>
              <c:numCache>
                <c:formatCode>General</c:formatCode>
                <c:ptCount val="4"/>
                <c:pt idx="0">
                  <c:v>98.4</c:v>
                </c:pt>
                <c:pt idx="1">
                  <c:v>93.1</c:v>
                </c:pt>
                <c:pt idx="2">
                  <c:v>82.8</c:v>
                </c:pt>
                <c:pt idx="3">
                  <c:v>76</c:v>
                </c:pt>
              </c:numCache>
            </c:numRef>
          </c:val>
        </c:ser>
        <c:ser>
          <c:idx val="1"/>
          <c:order val="1"/>
          <c:tx>
            <c:strRef>
              <c:f>Sheet1!$C$1</c:f>
              <c:strCache>
                <c:ptCount val="1"/>
                <c:pt idx="0">
                  <c:v>Our model</c:v>
                </c:pt>
              </c:strCache>
            </c:strRef>
          </c:tx>
          <c:spPr>
            <a:solidFill>
              <a:srgbClr val="5A3FD0"/>
            </a:solidFill>
            <a:effectLst/>
          </c:spPr>
          <c:invertIfNegative val="0"/>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Sheet1!$A$2:$A$5</c:f>
              <c:multiLvlStrCache>
                <c:ptCount val="4"/>
                <c:lvl>
                  <c:pt idx="0">
                    <c:v>Essays</c:v>
                  </c:pt>
                  <c:pt idx="1">
                    <c:v>Code</c:v>
                  </c:pt>
                  <c:pt idx="2">
                    <c:v>Images</c:v>
                  </c:pt>
                  <c:pt idx="3">
                    <c:v>Voice</c:v>
                  </c:pt>
                </c:lvl>
              </c:multiLvlStrCache>
            </c:multiLvlStrRef>
          </c:cat>
          <c:val>
            <c:numRef>
              <c:f>Sheet1!$C$2:$C$5</c:f>
              <c:numCache>
                <c:formatCode>General</c:formatCode>
                <c:ptCount val="4"/>
                <c:pt idx="0">
                  <c:v>98.3</c:v>
                </c:pt>
                <c:pt idx="1">
                  <c:v>97.6</c:v>
                </c:pt>
                <c:pt idx="2">
                  <c:v>97.2</c:v>
                </c:pt>
                <c:pt idx="3">
                  <c:v>96.3</c:v>
                </c:pt>
              </c:numCache>
            </c:numRef>
          </c:val>
        </c:ser>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6350" cap="flat">
              <a:solidFill>
                <a:srgbClr val="D5DD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A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Essays (HC3)</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9AA8B1"/>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dPt>
            <c:idx val="0"/>
            <c:invertIfNegative val="0"/>
            <c:bubble3D val="0"/>
            <c:spPr>
              <a:solidFill>
                <a:srgbClr val="9AA8B1"/>
              </a:solidFill>
              <a:effectLst/>
            </c:spPr>
          </c:dPt>
          <c:dPt>
            <c:idx val="1"/>
            <c:invertIfNegative val="0"/>
            <c:bubble3D val="0"/>
            <c:spPr>
              <a:solidFill>
                <a:srgbClr val="9AA8B1"/>
              </a:solidFill>
              <a:effectLst/>
            </c:spPr>
          </c:dPt>
          <c:dPt>
            <c:idx val="2"/>
            <c:invertIfNegative val="0"/>
            <c:bubble3D val="0"/>
            <c:spPr>
              <a:solidFill>
                <a:srgbClr val="9AA8B1"/>
              </a:solidFill>
              <a:effectLst/>
            </c:spPr>
          </c:dPt>
          <c:dPt>
            <c:idx val="3"/>
            <c:invertIfNegative val="0"/>
            <c:bubble3D val="0"/>
            <c:spPr>
              <a:solidFill>
                <a:srgbClr val="5A3FD0"/>
              </a:solidFill>
              <a:effectLst/>
            </c:spPr>
          </c:dPt>
          <c:cat>
            <c:multiLvlStrRef>
              <c:f>Sheet1!$A$2:$A$5</c:f>
              <c:multiLvlStrCache>
                <c:ptCount val="4"/>
                <c:lvl>
                  <c:pt idx="0">
                    <c:v>OpenAI RoBERTa</c:v>
                  </c:pt>
                  <c:pt idx="1">
                    <c:v>Fakespot RoBERTa</c:v>
                  </c:pt>
                  <c:pt idx="2">
                    <c:v>HC3 ChatGPT detector*</c:v>
                  </c:pt>
                  <c:pt idx="3">
                    <c:v>Ours</c:v>
                  </c:pt>
                </c:lvl>
              </c:multiLvlStrCache>
            </c:multiLvlStrRef>
          </c:cat>
          <c:val>
            <c:numRef>
              <c:f>Sheet1!$B$2:$B$5</c:f>
              <c:numCache>
                <c:formatCode>General</c:formatCode>
                <c:ptCount val="4"/>
                <c:pt idx="0">
                  <c:v>92.8</c:v>
                </c:pt>
                <c:pt idx="1">
                  <c:v>90.2</c:v>
                </c:pt>
                <c:pt idx="2">
                  <c:v>89.5</c:v>
                </c:pt>
                <c:pt idx="3">
                  <c:v>98.3</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Images (CIFAKE)</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9AA8B1"/>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dPt>
            <c:idx val="0"/>
            <c:invertIfNegative val="0"/>
            <c:bubble3D val="0"/>
            <c:spPr>
              <a:solidFill>
                <a:srgbClr val="9AA8B1"/>
              </a:solidFill>
              <a:effectLst/>
            </c:spPr>
          </c:dPt>
          <c:dPt>
            <c:idx val="1"/>
            <c:invertIfNegative val="0"/>
            <c:bubble3D val="0"/>
            <c:spPr>
              <a:solidFill>
                <a:srgbClr val="9AA8B1"/>
              </a:solidFill>
              <a:effectLst/>
            </c:spPr>
          </c:dPt>
          <c:dPt>
            <c:idx val="2"/>
            <c:invertIfNegative val="0"/>
            <c:bubble3D val="0"/>
            <c:spPr>
              <a:solidFill>
                <a:srgbClr val="9AA8B1"/>
              </a:solidFill>
              <a:effectLst/>
            </c:spPr>
          </c:dPt>
          <c:dPt>
            <c:idx val="3"/>
            <c:invertIfNegative val="0"/>
            <c:bubble3D val="0"/>
            <c:spPr>
              <a:solidFill>
                <a:srgbClr val="5A3FD0"/>
              </a:solidFill>
              <a:effectLst/>
            </c:spPr>
          </c:dPt>
          <c:cat>
            <c:multiLvlStrRef>
              <c:f>Sheet1!$A$2:$A$5</c:f>
              <c:multiLvlStrCache>
                <c:ptCount val="4"/>
                <c:lvl>
                  <c:pt idx="0">
                    <c:v>umm-maybe</c:v>
                  </c:pt>
                  <c:pt idx="1">
                    <c:v>dima806*</c:v>
                  </c:pt>
                  <c:pt idx="2">
                    <c:v>Ateeqq</c:v>
                  </c:pt>
                  <c:pt idx="3">
                    <c:v>Ours</c:v>
                  </c:pt>
                </c:lvl>
              </c:multiLvlStrCache>
            </c:multiLvlStrRef>
          </c:cat>
          <c:val>
            <c:numRef>
              <c:f>Sheet1!$B$2:$B$5</c:f>
              <c:numCache>
                <c:formatCode>General</c:formatCode>
                <c:ptCount val="4"/>
                <c:pt idx="0">
                  <c:v>59.5</c:v>
                </c:pt>
                <c:pt idx="1">
                  <c:v>98.4</c:v>
                </c:pt>
                <c:pt idx="2">
                  <c:v>40.6</c:v>
                </c:pt>
                <c:pt idx="3">
                  <c:v>97.2</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Voice (ASVspoof)</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9AA8B1"/>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dPt>
            <c:idx val="0"/>
            <c:invertIfNegative val="0"/>
            <c:bubble3D val="0"/>
            <c:spPr>
              <a:solidFill>
                <a:srgbClr val="9AA8B1"/>
              </a:solidFill>
              <a:effectLst/>
            </c:spPr>
          </c:dPt>
          <c:dPt>
            <c:idx val="1"/>
            <c:invertIfNegative val="0"/>
            <c:bubble3D val="0"/>
            <c:spPr>
              <a:solidFill>
                <a:srgbClr val="9AA8B1"/>
              </a:solidFill>
              <a:effectLst/>
            </c:spPr>
          </c:dPt>
          <c:dPt>
            <c:idx val="2"/>
            <c:invertIfNegative val="0"/>
            <c:bubble3D val="0"/>
            <c:spPr>
              <a:solidFill>
                <a:srgbClr val="5A3FD0"/>
              </a:solidFill>
              <a:effectLst/>
            </c:spPr>
          </c:dPt>
          <c:cat>
            <c:multiLvlStrRef>
              <c:f>Sheet1!$A$2:$A$4</c:f>
              <c:multiLvlStrCache>
                <c:ptCount val="3"/>
                <c:lvl>
                  <c:pt idx="0">
                    <c:v>mo-thecreator</c:v>
                  </c:pt>
                  <c:pt idx="1">
                    <c:v>MelodyMachine</c:v>
                  </c:pt>
                  <c:pt idx="2">
                    <c:v>Ours</c:v>
                  </c:pt>
                </c:lvl>
              </c:multiLvlStrCache>
            </c:multiLvlStrRef>
          </c:cat>
          <c:val>
            <c:numRef>
              <c:f>Sheet1!$B$2:$B$4</c:f>
              <c:numCache>
                <c:formatCode>General</c:formatCode>
                <c:ptCount val="3"/>
                <c:pt idx="0">
                  <c:v>53.4</c:v>
                </c:pt>
                <c:pt idx="1">
                  <c:v>72.2</c:v>
                </c:pt>
                <c:pt idx="2">
                  <c:v>96.3</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Essays: MAGE (27 LLMs)</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9AA8B1"/>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dPt>
            <c:idx val="0"/>
            <c:invertIfNegative val="0"/>
            <c:bubble3D val="0"/>
            <c:spPr>
              <a:solidFill>
                <a:srgbClr val="9AA8B1"/>
              </a:solidFill>
              <a:effectLst/>
            </c:spPr>
          </c:dPt>
          <c:dPt>
            <c:idx val="1"/>
            <c:invertIfNegative val="0"/>
            <c:bubble3D val="0"/>
            <c:spPr>
              <a:solidFill>
                <a:srgbClr val="9AA8B1"/>
              </a:solidFill>
              <a:effectLst/>
            </c:spPr>
          </c:dPt>
          <c:dPt>
            <c:idx val="2"/>
            <c:invertIfNegative val="0"/>
            <c:bubble3D val="0"/>
            <c:spPr>
              <a:solidFill>
                <a:srgbClr val="9AA8B1"/>
              </a:solidFill>
              <a:effectLst/>
            </c:spPr>
          </c:dPt>
          <c:dPt>
            <c:idx val="3"/>
            <c:invertIfNegative val="0"/>
            <c:bubble3D val="0"/>
            <c:spPr>
              <a:solidFill>
                <a:srgbClr val="5A3FD0"/>
              </a:solidFill>
              <a:effectLst/>
            </c:spPr>
          </c:dPt>
          <c:cat>
            <c:multiLvlStrRef>
              <c:f>Sheet1!$A$2:$A$5</c:f>
              <c:multiLvlStrCache>
                <c:ptCount val="4"/>
                <c:lvl>
                  <c:pt idx="0">
                    <c:v>OpenAI RoBERTa</c:v>
                  </c:pt>
                  <c:pt idx="1">
                    <c:v>Fakespot RoBERTa</c:v>
                  </c:pt>
                  <c:pt idx="2">
                    <c:v>HC3 ChatGPT detector</c:v>
                  </c:pt>
                  <c:pt idx="3">
                    <c:v>Ours</c:v>
                  </c:pt>
                </c:lvl>
              </c:multiLvlStrCache>
            </c:multiLvlStrRef>
          </c:cat>
          <c:val>
            <c:numRef>
              <c:f>Sheet1!$B$2:$B$5</c:f>
              <c:numCache>
                <c:formatCode>General</c:formatCode>
                <c:ptCount val="4"/>
                <c:pt idx="0">
                  <c:v>65.5</c:v>
                </c:pt>
                <c:pt idx="1">
                  <c:v>69</c:v>
                </c:pt>
                <c:pt idx="2">
                  <c:v>53.9</c:v>
                </c:pt>
                <c:pt idx="3">
                  <c:v>85.3</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Images: GenImage (7 generators)</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9AA8B1"/>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dPt>
            <c:idx val="0"/>
            <c:invertIfNegative val="0"/>
            <c:bubble3D val="0"/>
            <c:spPr>
              <a:solidFill>
                <a:srgbClr val="9AA8B1"/>
              </a:solidFill>
              <a:effectLst/>
            </c:spPr>
          </c:dPt>
          <c:dPt>
            <c:idx val="1"/>
            <c:invertIfNegative val="0"/>
            <c:bubble3D val="0"/>
            <c:spPr>
              <a:solidFill>
                <a:srgbClr val="9AA8B1"/>
              </a:solidFill>
              <a:effectLst/>
            </c:spPr>
          </c:dPt>
          <c:dPt>
            <c:idx val="2"/>
            <c:invertIfNegative val="0"/>
            <c:bubble3D val="0"/>
            <c:spPr>
              <a:solidFill>
                <a:srgbClr val="9AA8B1"/>
              </a:solidFill>
              <a:effectLst/>
            </c:spPr>
          </c:dPt>
          <c:dPt>
            <c:idx val="3"/>
            <c:invertIfNegative val="0"/>
            <c:bubble3D val="0"/>
            <c:spPr>
              <a:solidFill>
                <a:srgbClr val="5A3FD0"/>
              </a:solidFill>
              <a:effectLst/>
            </c:spPr>
          </c:dPt>
          <c:cat>
            <c:multiLvlStrRef>
              <c:f>Sheet1!$A$2:$A$5</c:f>
              <c:multiLvlStrCache>
                <c:ptCount val="4"/>
                <c:lvl>
                  <c:pt idx="0">
                    <c:v>umm-maybe</c:v>
                  </c:pt>
                  <c:pt idx="1">
                    <c:v>dima806</c:v>
                  </c:pt>
                  <c:pt idx="2">
                    <c:v>Ateeqq</c:v>
                  </c:pt>
                  <c:pt idx="3">
                    <c:v>Ours</c:v>
                  </c:pt>
                </c:lvl>
              </c:multiLvlStrCache>
            </c:multiLvlStrRef>
          </c:cat>
          <c:val>
            <c:numRef>
              <c:f>Sheet1!$B$2:$B$5</c:f>
              <c:numCache>
                <c:formatCode>General</c:formatCode>
                <c:ptCount val="4"/>
                <c:pt idx="0">
                  <c:v>58.1</c:v>
                </c:pt>
                <c:pt idx="1">
                  <c:v>56.4</c:v>
                </c:pt>
                <c:pt idx="2">
                  <c:v>62.5</c:v>
                </c:pt>
                <c:pt idx="3">
                  <c:v>90.7</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Voice: modern TTS</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9AA8B1"/>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dPt>
            <c:idx val="0"/>
            <c:invertIfNegative val="0"/>
            <c:bubble3D val="0"/>
            <c:spPr>
              <a:solidFill>
                <a:srgbClr val="9AA8B1"/>
              </a:solidFill>
              <a:effectLst/>
            </c:spPr>
          </c:dPt>
          <c:dPt>
            <c:idx val="1"/>
            <c:invertIfNegative val="0"/>
            <c:bubble3D val="0"/>
            <c:spPr>
              <a:solidFill>
                <a:srgbClr val="9AA8B1"/>
              </a:solidFill>
              <a:effectLst/>
            </c:spPr>
          </c:dPt>
          <c:dPt>
            <c:idx val="2"/>
            <c:invertIfNegative val="0"/>
            <c:bubble3D val="0"/>
            <c:spPr>
              <a:solidFill>
                <a:srgbClr val="5A3FD0"/>
              </a:solidFill>
              <a:effectLst/>
            </c:spPr>
          </c:dPt>
          <c:cat>
            <c:multiLvlStrRef>
              <c:f>Sheet1!$A$2:$A$4</c:f>
              <c:multiLvlStrCache>
                <c:ptCount val="3"/>
                <c:lvl>
                  <c:pt idx="0">
                    <c:v>mo-thecreator</c:v>
                  </c:pt>
                  <c:pt idx="1">
                    <c:v>MelodyMachine</c:v>
                  </c:pt>
                  <c:pt idx="2">
                    <c:v>Ours</c:v>
                  </c:pt>
                </c:lvl>
              </c:multiLvlStrCache>
            </c:multiLvlStrRef>
          </c:cat>
          <c:val>
            <c:numRef>
              <c:f>Sheet1!$B$2:$B$4</c:f>
              <c:numCache>
                <c:formatCode>General</c:formatCode>
                <c:ptCount val="3"/>
                <c:pt idx="0">
                  <c:v>78</c:v>
                </c:pt>
                <c:pt idx="1">
                  <c:v>51.8</c:v>
                </c:pt>
                <c:pt idx="2">
                  <c:v>94.3</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Essay detectors: accuracy (%)</a:t>
            </a:r>
          </a:p>
        </c:rich>
      </c:tx>
      <c:layout/>
      <c:overlay val="0"/>
    </c:title>
    <c:autoTitleDeleted val="0"/>
    <c:plotArea>
      <c:layout/>
      <c:barChart>
        <c:barDir val="col"/>
        <c:grouping val="clustered"/>
        <c:varyColors val="0"/>
        <c:ser>
          <c:idx val="0"/>
          <c:order val="0"/>
          <c:tx>
            <c:strRef>
              <c:f>Sheet1!$B$1</c:f>
              <c:strCache>
                <c:ptCount val="1"/>
                <c:pt idx="0">
                  <c:v>HC3 test (same source as training)</c:v>
                </c:pt>
              </c:strCache>
            </c:strRef>
          </c:tx>
          <c:spPr>
            <a:solidFill>
              <a:srgbClr val="9AA8B1"/>
            </a:solidFill>
            <a:effectLst/>
          </c:spPr>
          <c:invertIfNegative val="0"/>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Sheet1!$A$2:$A$8</c:f>
              <c:multiLvlStrCache>
                <c:ptCount val="7"/>
                <c:lvl>
                  <c:pt idx="0">
                    <c:v>Ours, HC3 only</c:v>
                  </c:pt>
                  <c:pt idx="1">
                    <c:v>TF-IDF + LR</c:v>
                  </c:pt>
                  <c:pt idx="2">
                    <c:v>Perplexity threshold</c:v>
                  </c:pt>
                  <c:pt idx="3">
                    <c:v>OpenAI RoBERTa</c:v>
                  </c:pt>
                  <c:pt idx="4">
                    <c:v>Fakespot RoBERTa</c:v>
                  </c:pt>
                  <c:pt idx="5">
                    <c:v>HC3 ChatGPT detector</c:v>
                  </c:pt>
                  <c:pt idx="6">
                    <c:v>Ours, diverse data</c:v>
                  </c:pt>
                </c:lvl>
              </c:multiLvlStrCache>
            </c:multiLvlStrRef>
          </c:cat>
          <c:val>
            <c:numRef>
              <c:f>Sheet1!$B$2:$B$8</c:f>
              <c:numCache>
                <c:formatCode>General</c:formatCode>
                <c:ptCount val="7"/>
                <c:pt idx="0">
                  <c:v>98.3</c:v>
                </c:pt>
                <c:pt idx="1">
                  <c:v>96.4</c:v>
                </c:pt>
                <c:pt idx="2">
                  <c:v>95.5</c:v>
                </c:pt>
                <c:pt idx="3">
                  <c:v>92.8</c:v>
                </c:pt>
                <c:pt idx="4">
                  <c:v>90.2</c:v>
                </c:pt>
                <c:pt idx="5">
                  <c:v>89.5</c:v>
                </c:pt>
                <c:pt idx="6">
                  <c:v>97.2</c:v>
                </c:pt>
              </c:numCache>
            </c:numRef>
          </c:val>
        </c:ser>
        <c:ser>
          <c:idx val="1"/>
          <c:order val="1"/>
          <c:tx>
            <c:strRef>
              <c:f>Sheet1!$C$1</c:f>
              <c:strCache>
                <c:ptCount val="1"/>
                <c:pt idx="0">
                  <c:v>MAGE (unseen models and topics)</c:v>
                </c:pt>
              </c:strCache>
            </c:strRef>
          </c:tx>
          <c:spPr>
            <a:solidFill>
              <a:srgbClr val="C24A12"/>
            </a:solidFill>
            <a:effectLst/>
          </c:spPr>
          <c:invertIfNegative val="0"/>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Sheet1!$A$2:$A$8</c:f>
              <c:multiLvlStrCache>
                <c:ptCount val="7"/>
                <c:lvl>
                  <c:pt idx="0">
                    <c:v>Ours, HC3 only</c:v>
                  </c:pt>
                  <c:pt idx="1">
                    <c:v>TF-IDF + LR</c:v>
                  </c:pt>
                  <c:pt idx="2">
                    <c:v>Perplexity threshold</c:v>
                  </c:pt>
                  <c:pt idx="3">
                    <c:v>OpenAI RoBERTa</c:v>
                  </c:pt>
                  <c:pt idx="4">
                    <c:v>Fakespot RoBERTa</c:v>
                  </c:pt>
                  <c:pt idx="5">
                    <c:v>HC3 ChatGPT detector</c:v>
                  </c:pt>
                  <c:pt idx="6">
                    <c:v>Ours, diverse data</c:v>
                  </c:pt>
                </c:lvl>
              </c:multiLvlStrCache>
            </c:multiLvlStrRef>
          </c:cat>
          <c:val>
            <c:numRef>
              <c:f>Sheet1!$C$2:$C$8</c:f>
              <c:numCache>
                <c:formatCode>General</c:formatCode>
                <c:ptCount val="7"/>
                <c:pt idx="0">
                  <c:v>57.1</c:v>
                </c:pt>
                <c:pt idx="1">
                  <c:v>52.5</c:v>
                </c:pt>
                <c:pt idx="2">
                  <c:v>63.2</c:v>
                </c:pt>
                <c:pt idx="3">
                  <c:v>65.5</c:v>
                </c:pt>
                <c:pt idx="4">
                  <c:v>69</c:v>
                </c:pt>
                <c:pt idx="5">
                  <c:v>53.9</c:v>
                </c:pt>
                <c:pt idx="6">
                  <c:v>85.3</c:v>
                </c:pt>
              </c:numCache>
            </c:numRef>
          </c:val>
        </c:ser>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D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A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 of AI essays caught on MAGE, by model family</a:t>
            </a:r>
          </a:p>
        </c:rich>
      </c:tx>
      <c:layout/>
      <c:overlay val="0"/>
    </c:title>
    <c:autoTitleDeleted val="0"/>
    <c:plotArea>
      <c:layout/>
      <c:barChart>
        <c:barDir val="bar"/>
        <c:grouping val="clustered"/>
        <c:varyColors val="0"/>
        <c:ser>
          <c:idx val="0"/>
          <c:order val="0"/>
          <c:tx>
            <c:strRef>
              <c:f>Sheet1!$B$1</c:f>
              <c:strCache>
                <c:ptCount val="1"/>
                <c:pt idx="0">
                  <c:v>Trained on HC3 only (ChatGPT)</c:v>
                </c:pt>
              </c:strCache>
            </c:strRef>
          </c:tx>
          <c:spPr>
            <a:solidFill>
              <a:srgbClr val="9AA8B1"/>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Sheet1!$A$2:$A$6</c:f>
              <c:multiLvlStrCache>
                <c:ptCount val="5"/>
                <c:lvl>
                  <c:pt idx="0">
                    <c:v>GPT-3.5 / davinci</c:v>
                  </c:pt>
                  <c:pt idx="1">
                    <c:v>LLaMA</c:v>
                  </c:pt>
                  <c:pt idx="2">
                    <c:v>OPT (held out)</c:v>
                  </c:pt>
                  <c:pt idx="3">
                    <c:v>FLAN-T5 / T0</c:v>
                  </c:pt>
                  <c:pt idx="4">
                    <c:v>GLM / BLOOM / GPT-J / NeoX</c:v>
                  </c:pt>
                </c:lvl>
              </c:multiLvlStrCache>
            </c:multiLvlStrRef>
          </c:cat>
          <c:val>
            <c:numRef>
              <c:f>Sheet1!$B$2:$B$6</c:f>
              <c:numCache>
                <c:formatCode>General</c:formatCode>
                <c:ptCount val="5"/>
                <c:pt idx="0">
                  <c:v>74</c:v>
                </c:pt>
                <c:pt idx="1">
                  <c:v>58</c:v>
                </c:pt>
                <c:pt idx="2">
                  <c:v>12</c:v>
                </c:pt>
                <c:pt idx="3">
                  <c:v>14</c:v>
                </c:pt>
                <c:pt idx="4">
                  <c:v>18</c:v>
                </c:pt>
              </c:numCache>
            </c:numRef>
          </c:val>
        </c:ser>
        <c:ser>
          <c:idx val="1"/>
          <c:order val="1"/>
          <c:tx>
            <c:strRef>
              <c:f>Sheet1!$C$1</c:f>
              <c:strCache>
                <c:ptCount val="1"/>
                <c:pt idx="0">
                  <c:v>HC3 + diverse MAGE data (calibrated)</c:v>
                </c:pt>
              </c:strCache>
            </c:strRef>
          </c:tx>
          <c:spPr>
            <a:solidFill>
              <a:srgbClr val="5A3FD0"/>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Sheet1!$A$2:$A$6</c:f>
              <c:multiLvlStrCache>
                <c:ptCount val="5"/>
                <c:lvl>
                  <c:pt idx="0">
                    <c:v>GPT-3.5 / davinci</c:v>
                  </c:pt>
                  <c:pt idx="1">
                    <c:v>LLaMA</c:v>
                  </c:pt>
                  <c:pt idx="2">
                    <c:v>OPT (held out)</c:v>
                  </c:pt>
                  <c:pt idx="3">
                    <c:v>FLAN-T5 / T0</c:v>
                  </c:pt>
                  <c:pt idx="4">
                    <c:v>GLM / BLOOM / GPT-J / NeoX</c:v>
                  </c:pt>
                </c:lvl>
              </c:multiLvlStrCache>
            </c:multiLvlStrRef>
          </c:cat>
          <c:val>
            <c:numRef>
              <c:f>Sheet1!$C$2:$C$6</c:f>
              <c:numCache>
                <c:formatCode>General</c:formatCode>
                <c:ptCount val="5"/>
                <c:pt idx="0">
                  <c:v>91</c:v>
                </c:pt>
                <c:pt idx="1">
                  <c:v>89</c:v>
                </c:pt>
                <c:pt idx="2">
                  <c:v>77</c:v>
                </c:pt>
                <c:pt idx="3">
                  <c:v>81</c:v>
                </c:pt>
                <c:pt idx="4">
                  <c:v>92</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A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Test accuracy (%)</a:t>
            </a:r>
          </a:p>
        </c:rich>
      </c:tx>
      <c:layout/>
      <c:overlay val="0"/>
    </c:title>
    <c:autoTitleDeleted val="0"/>
    <c:plotArea>
      <c:layout/>
      <c:barChart>
        <c:barDir val="col"/>
        <c:grouping val="clustered"/>
        <c:varyColors val="0"/>
        <c:ser>
          <c:idx val="0"/>
          <c:order val="0"/>
          <c:tx>
            <c:strRef>
              <c:f>Sheet1!$B$1</c:f>
              <c:strCache>
                <c:ptCount val="1"/>
                <c:pt idx="0">
                  <c:v>Cross-entropy only</c:v>
                </c:pt>
              </c:strCache>
            </c:strRef>
          </c:tx>
          <c:spPr>
            <a:solidFill>
              <a:srgbClr val="9AA8B1"/>
            </a:solidFill>
            <a:effectLst/>
          </c:spPr>
          <c:invertIfNegative val="0"/>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Sheet1!$A$2:$A$5</c:f>
              <c:multiLvlStrCache>
                <c:ptCount val="4"/>
                <c:lvl>
                  <c:pt idx="0">
                    <c:v>Essays</c:v>
                  </c:pt>
                  <c:pt idx="1">
                    <c:v>Code (4k)</c:v>
                  </c:pt>
                  <c:pt idx="2">
                    <c:v>Images (CIFAKE)</c:v>
                  </c:pt>
                  <c:pt idx="3">
                    <c:v>Voice (CNN)</c:v>
                  </c:pt>
                </c:lvl>
              </c:multiLvlStrCache>
            </c:multiLvlStrRef>
          </c:cat>
          <c:val>
            <c:numRef>
              <c:f>Sheet1!$B$2:$B$5</c:f>
              <c:numCache>
                <c:formatCode>General</c:formatCode>
                <c:ptCount val="4"/>
                <c:pt idx="0">
                  <c:v>98.9</c:v>
                </c:pt>
                <c:pt idx="1">
                  <c:v>94.4</c:v>
                </c:pt>
                <c:pt idx="2">
                  <c:v>97.1</c:v>
                </c:pt>
                <c:pt idx="3">
                  <c:v>80</c:v>
                </c:pt>
              </c:numCache>
            </c:numRef>
          </c:val>
        </c:ser>
        <c:ser>
          <c:idx val="1"/>
          <c:order val="1"/>
          <c:tx>
            <c:strRef>
              <c:f>Sheet1!$C$1</c:f>
              <c:strCache>
                <c:ptCount val="1"/>
                <c:pt idx="0">
                  <c:v>Cross-entropy + SupCon</c:v>
                </c:pt>
              </c:strCache>
            </c:strRef>
          </c:tx>
          <c:spPr>
            <a:solidFill>
              <a:srgbClr val="5A3FD0"/>
            </a:solidFill>
            <a:effectLst/>
          </c:spPr>
          <c:invertIfNegative val="0"/>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Sheet1!$A$2:$A$5</c:f>
              <c:multiLvlStrCache>
                <c:ptCount val="4"/>
                <c:lvl>
                  <c:pt idx="0">
                    <c:v>Essays</c:v>
                  </c:pt>
                  <c:pt idx="1">
                    <c:v>Code (4k)</c:v>
                  </c:pt>
                  <c:pt idx="2">
                    <c:v>Images (CIFAKE)</c:v>
                  </c:pt>
                  <c:pt idx="3">
                    <c:v>Voice (CNN)</c:v>
                  </c:pt>
                </c:lvl>
              </c:multiLvlStrCache>
            </c:multiLvlStrRef>
          </c:cat>
          <c:val>
            <c:numRef>
              <c:f>Sheet1!$C$2:$C$5</c:f>
              <c:numCache>
                <c:formatCode>General</c:formatCode>
                <c:ptCount val="4"/>
                <c:pt idx="0">
                  <c:v>98.3</c:v>
                </c:pt>
                <c:pt idx="1">
                  <c:v>95.5</c:v>
                </c:pt>
                <c:pt idx="2">
                  <c:v>97.2</c:v>
                </c:pt>
                <c:pt idx="3">
                  <c:v>80.7</c:v>
                </c:pt>
              </c:numCache>
            </c:numRef>
          </c:val>
        </c:ser>
        <c:dLbls>
          <c:numFmt formatCode="0.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D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A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Code: % of AI samples caught, per LLM</a:t>
            </a:r>
          </a:p>
        </c:rich>
      </c:tx>
      <c:layout/>
      <c:overlay val="0"/>
    </c:title>
    <c:autoTitleDeleted val="0"/>
    <c:plotArea>
      <c:layout/>
      <c:barChart>
        <c:barDir val="bar"/>
        <c:grouping val="clustered"/>
        <c:varyColors val="0"/>
        <c:ser>
          <c:idx val="0"/>
          <c:order val="0"/>
          <c:tx>
            <c:strRef>
              <c:f>Sheet1!$B$1</c:f>
              <c:strCache>
                <c:ptCount val="1"/>
                <c:pt idx="0">
                  <c:v>Detected</c:v>
                </c:pt>
              </c:strCache>
            </c:strRef>
          </c:tx>
          <c:spPr>
            <a:solidFill>
              <a:srgbClr val="5A3FD0"/>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Sheet1!$A$2:$A$6</c:f>
              <c:multiLvlStrCache>
                <c:ptCount val="5"/>
                <c:lvl>
                  <c:pt idx="0">
                    <c:v>codellama</c:v>
                  </c:pt>
                  <c:pt idx="1">
                    <c:v>gpt</c:v>
                  </c:pt>
                  <c:pt idx="2">
                    <c:v>llama3.1</c:v>
                  </c:pt>
                  <c:pt idx="3">
                    <c:v>nxcode</c:v>
                  </c:pt>
                  <c:pt idx="4">
                    <c:v>qwen1.5</c:v>
                  </c:pt>
                </c:lvl>
              </c:multiLvlStrCache>
            </c:multiLvlStrRef>
          </c:cat>
          <c:val>
            <c:numRef>
              <c:f>Sheet1!$B$2:$B$6</c:f>
              <c:numCache>
                <c:formatCode>General</c:formatCode>
                <c:ptCount val="5"/>
                <c:pt idx="0">
                  <c:v>94</c:v>
                </c:pt>
                <c:pt idx="1">
                  <c:v>94</c:v>
                </c:pt>
                <c:pt idx="2">
                  <c:v>98</c:v>
                </c:pt>
                <c:pt idx="3">
                  <c:v>96</c:v>
                </c:pt>
                <c:pt idx="4">
                  <c:v>97</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Voice: % of spoofs caught, per attack</a:t>
            </a:r>
          </a:p>
        </c:rich>
      </c:tx>
      <c:layout/>
      <c:overlay val="0"/>
    </c:title>
    <c:autoTitleDeleted val="0"/>
    <c:plotArea>
      <c:layout/>
      <c:barChart>
        <c:barDir val="bar"/>
        <c:grouping val="clustered"/>
        <c:varyColors val="0"/>
        <c:ser>
          <c:idx val="0"/>
          <c:order val="0"/>
          <c:tx>
            <c:strRef>
              <c:f>Sheet1!$B$1</c:f>
              <c:strCache>
                <c:ptCount val="1"/>
                <c:pt idx="0">
                  <c:v>Detected</c:v>
                </c:pt>
              </c:strCache>
            </c:strRef>
          </c:tx>
          <c:spPr>
            <a:solidFill>
              <a:srgbClr val="C24A12"/>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Sheet1!$A$2:$A$14</c:f>
              <c:multiLvlStrCache>
                <c:ptCount val="13"/>
                <c:lvl>
                  <c:pt idx="0">
                    <c:v>A07</c:v>
                  </c:pt>
                  <c:pt idx="1">
                    <c:v>A08</c:v>
                  </c:pt>
                  <c:pt idx="2">
                    <c:v>A09</c:v>
                  </c:pt>
                  <c:pt idx="3">
                    <c:v>A10</c:v>
                  </c:pt>
                  <c:pt idx="4">
                    <c:v>A11</c:v>
                  </c:pt>
                  <c:pt idx="5">
                    <c:v>A12</c:v>
                  </c:pt>
                  <c:pt idx="6">
                    <c:v>A13</c:v>
                  </c:pt>
                  <c:pt idx="7">
                    <c:v>A14</c:v>
                  </c:pt>
                  <c:pt idx="8">
                    <c:v>A15</c:v>
                  </c:pt>
                  <c:pt idx="9">
                    <c:v>A16</c:v>
                  </c:pt>
                  <c:pt idx="10">
                    <c:v>A17</c:v>
                  </c:pt>
                  <c:pt idx="11">
                    <c:v>A18</c:v>
                  </c:pt>
                  <c:pt idx="12">
                    <c:v>A19</c:v>
                  </c:pt>
                </c:lvl>
              </c:multiLvlStrCache>
            </c:multiLvlStrRef>
          </c:cat>
          <c:val>
            <c:numRef>
              <c:f>Sheet1!$B$2:$B$14</c:f>
              <c:numCache>
                <c:formatCode>General</c:formatCode>
                <c:ptCount val="13"/>
                <c:pt idx="0">
                  <c:v>100</c:v>
                </c:pt>
                <c:pt idx="1">
                  <c:v>100</c:v>
                </c:pt>
                <c:pt idx="2">
                  <c:v>100</c:v>
                </c:pt>
                <c:pt idx="3">
                  <c:v>55.3</c:v>
                </c:pt>
                <c:pt idx="4">
                  <c:v>100</c:v>
                </c:pt>
                <c:pt idx="5">
                  <c:v>97.4</c:v>
                </c:pt>
                <c:pt idx="6">
                  <c:v>100</c:v>
                </c:pt>
                <c:pt idx="7">
                  <c:v>100</c:v>
                </c:pt>
                <c:pt idx="8">
                  <c:v>100</c:v>
                </c:pt>
                <c:pt idx="9">
                  <c:v>87.2</c:v>
                </c:pt>
                <c:pt idx="10">
                  <c:v>100</c:v>
                </c:pt>
                <c:pt idx="11">
                  <c:v>100</c:v>
                </c:pt>
                <c:pt idx="12">
                  <c:v>96.7</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Code detector trained without any GPT code (% correct)</a:t>
            </a:r>
          </a:p>
        </c:rich>
      </c:tx>
      <c:layout/>
      <c:overlay val="0"/>
    </c:title>
    <c:autoTitleDeleted val="0"/>
    <c:plotArea>
      <c:layout/>
      <c:barChart>
        <c:barDir val="col"/>
        <c:grouping val="clustered"/>
        <c:varyColors val="0"/>
        <c:ser>
          <c:idx val="0"/>
          <c:order val="0"/>
          <c:tx>
            <c:strRef>
              <c:f>Sheet1!$B$1</c:f>
              <c:strCache>
                <c:ptCount val="1"/>
                <c:pt idx="0">
                  <c:v>Cross-entropy only</c:v>
                </c:pt>
              </c:strCache>
            </c:strRef>
          </c:tx>
          <c:spPr>
            <a:solidFill>
              <a:srgbClr val="9AA8B1"/>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Sheet1!$A$2:$A$7</c:f>
              <c:multiLvlStrCache>
                <c:ptCount val="6"/>
                <c:lvl>
                  <c:pt idx="0">
                    <c:v>GPT (unseen)</c:v>
                  </c:pt>
                  <c:pt idx="1">
                    <c:v>codellama</c:v>
                  </c:pt>
                  <c:pt idx="2">
                    <c:v>llama3.1</c:v>
                  </c:pt>
                  <c:pt idx="3">
                    <c:v>nxcode</c:v>
                  </c:pt>
                  <c:pt idx="4">
                    <c:v>qwen1.5</c:v>
                  </c:pt>
                  <c:pt idx="5">
                    <c:v>Human (correct)</c:v>
                  </c:pt>
                </c:lvl>
              </c:multiLvlStrCache>
            </c:multiLvlStrRef>
          </c:cat>
          <c:val>
            <c:numRef>
              <c:f>Sheet1!$B$2:$B$7</c:f>
              <c:numCache>
                <c:formatCode>General</c:formatCode>
                <c:ptCount val="6"/>
                <c:pt idx="0">
                  <c:v>85</c:v>
                </c:pt>
                <c:pt idx="1">
                  <c:v>95</c:v>
                </c:pt>
                <c:pt idx="2">
                  <c:v>89</c:v>
                </c:pt>
                <c:pt idx="3">
                  <c:v>96</c:v>
                </c:pt>
                <c:pt idx="4">
                  <c:v>98</c:v>
                </c:pt>
                <c:pt idx="5">
                  <c:v>93.4</c:v>
                </c:pt>
              </c:numCache>
            </c:numRef>
          </c:val>
        </c:ser>
        <c:ser>
          <c:idx val="1"/>
          <c:order val="1"/>
          <c:tx>
            <c:strRef>
              <c:f>Sheet1!$C$1</c:f>
              <c:strCache>
                <c:ptCount val="1"/>
                <c:pt idx="0">
                  <c:v>Cross-entropy + SupCon</c:v>
                </c:pt>
              </c:strCache>
            </c:strRef>
          </c:tx>
          <c:spPr>
            <a:solidFill>
              <a:srgbClr val="5A3FD0"/>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Sheet1!$A$2:$A$7</c:f>
              <c:multiLvlStrCache>
                <c:ptCount val="6"/>
                <c:lvl>
                  <c:pt idx="0">
                    <c:v>GPT (unseen)</c:v>
                  </c:pt>
                  <c:pt idx="1">
                    <c:v>codellama</c:v>
                  </c:pt>
                  <c:pt idx="2">
                    <c:v>llama3.1</c:v>
                  </c:pt>
                  <c:pt idx="3">
                    <c:v>nxcode</c:v>
                  </c:pt>
                  <c:pt idx="4">
                    <c:v>qwen1.5</c:v>
                  </c:pt>
                  <c:pt idx="5">
                    <c:v>Human (correct)</c:v>
                  </c:pt>
                </c:lvl>
              </c:multiLvlStrCache>
            </c:multiLvlStrRef>
          </c:cat>
          <c:val>
            <c:numRef>
              <c:f>Sheet1!$C$2:$C$7</c:f>
              <c:numCache>
                <c:formatCode>General</c:formatCode>
                <c:ptCount val="6"/>
                <c:pt idx="0">
                  <c:v>78</c:v>
                </c:pt>
                <c:pt idx="1">
                  <c:v>95</c:v>
                </c:pt>
                <c:pt idx="2">
                  <c:v>92</c:v>
                </c:pt>
                <c:pt idx="3">
                  <c:v>97</c:v>
                </c:pt>
                <c:pt idx="4">
                  <c:v>95</c:v>
                </c:pt>
                <c:pt idx="5">
                  <c:v>92.2</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D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A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Audio watermark detected (%), 50 real clips</a:t>
            </a:r>
          </a:p>
        </c:rich>
      </c:tx>
      <c:layout/>
      <c:overlay val="0"/>
    </c:title>
    <c:autoTitleDeleted val="0"/>
    <c:plotArea>
      <c:layout/>
      <c:barChart>
        <c:barDir val="bar"/>
        <c:grouping val="clustered"/>
        <c:varyColors val="0"/>
        <c:ser>
          <c:idx val="0"/>
          <c:order val="0"/>
          <c:tx>
            <c:strRef>
              <c:f>Sheet1!$B$1</c:f>
              <c:strCache>
                <c:ptCount val="1"/>
                <c:pt idx="0">
                  <c:v>AudioSeal</c:v>
                </c:pt>
              </c:strCache>
            </c:strRef>
          </c:tx>
          <c:spPr>
            <a:solidFill>
              <a:srgbClr val="5A3FD0"/>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cat>
            <c:multiLvlStrRef>
              <c:f>Sheet1!$A$2:$A$10</c:f>
              <c:multiLvlStrCache>
                <c:ptCount val="9"/>
                <c:lvl>
                  <c:pt idx="0">
                    <c:v>none</c:v>
                  </c:pt>
                  <c:pt idx="1">
                    <c:v>noise SNR20</c:v>
                  </c:pt>
                  <c:pt idx="2">
                    <c:v>noise SNR10</c:v>
                  </c:pt>
                  <c:pt idx="3">
                    <c:v>resample 8k</c:v>
                  </c:pt>
                  <c:pt idx="4">
                    <c:v>lowpass 3kHz</c:v>
                  </c:pt>
                  <c:pt idx="5">
                    <c:v>mp3 32kbps</c:v>
                  </c:pt>
                  <c:pt idx="6">
                    <c:v>crop 50%</c:v>
                  </c:pt>
                  <c:pt idx="7">
                    <c:v>speed 1.25x</c:v>
                  </c:pt>
                  <c:pt idx="8">
                    <c:v>amplitude x0.5</c:v>
                  </c:pt>
                </c:lvl>
              </c:multiLvlStrCache>
            </c:multiLvlStrRef>
          </c:cat>
          <c:val>
            <c:numRef>
              <c:f>Sheet1!$B$2:$B$10</c:f>
              <c:numCache>
                <c:formatCode>General</c:formatCode>
                <c:ptCount val="9"/>
                <c:pt idx="0">
                  <c:v>100</c:v>
                </c:pt>
                <c:pt idx="1">
                  <c:v>2</c:v>
                </c:pt>
                <c:pt idx="2">
                  <c:v>0</c:v>
                </c:pt>
                <c:pt idx="3">
                  <c:v>100</c:v>
                </c:pt>
                <c:pt idx="4">
                  <c:v>100</c:v>
                </c:pt>
                <c:pt idx="5">
                  <c:v>100</c:v>
                </c:pt>
                <c:pt idx="6">
                  <c:v>58</c:v>
                </c:pt>
                <c:pt idx="7">
                  <c:v>0</c:v>
                </c:pt>
                <c:pt idx="8">
                  <c:v>100</c:v>
                </c:pt>
              </c:numCache>
            </c:numRef>
          </c:val>
        </c:ser>
        <c:dLbls>
          <c:numFmt formatCode="0" sourceLinked="0"/>
          <c:txPr>
            <a:bodyPr/>
            <a:lstStyle/>
            <a:p>
              <a:pPr>
                <a:defRPr b="0" i="0" strike="noStrike" sz="1000" u="none">
                  <a:solidFill>
                    <a:srgbClr val="1320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A"/>
                </a:solidFill>
                <a:latin typeface="+mn-lt"/>
              </a:defRPr>
            </a:pPr>
            <a:r>
              <a:rPr sz="1300" b="0" i="0" u="none" strike="noStrike">
                <a:solidFill>
                  <a:srgbClr val="13202A"/>
                </a:solidFill>
                <a:latin typeface="+mn-lt"/>
              </a:rPr>
              <a:t>Text watermark detected (%), 30 generations</a:t>
            </a:r>
          </a:p>
        </c:rich>
      </c:tx>
      <c:layout/>
      <c:overlay val="0"/>
    </c:title>
    <c:autoTitleDeleted val="0"/>
    <c:plotArea>
      <c:layout/>
      <c:barChart>
        <c:barDir val="bar"/>
        <c:grouping val="clustered"/>
        <c:varyColors val="0"/>
        <c:ser>
          <c:idx val="0"/>
          <c:order val="0"/>
          <c:tx>
            <c:strRef>
              <c:f>Sheet1!$B$1</c:f>
              <c:strCache>
                <c:ptCount val="1"/>
                <c:pt idx="0">
                  <c:v>Green-list (KGW)</c:v>
                </c:pt>
              </c:strCache>
            </c:strRef>
          </c:tx>
          <c:spPr>
            <a:solidFill>
              <a:srgbClr val="1D7A57"/>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0"/>
            <c:showCatName val="0"/>
            <c:showSerName val="0"/>
            <c:showPercent val="0"/>
            <c:showBubbleSize val="0"/>
            <c:showLeaderLines val="0"/>
          </c:dLbls>
          <c:cat>
            <c:multiLvlStrRef>
              <c:f>Sheet1!$A$2:$A$7</c:f>
              <c:multiLvlStrCache>
                <c:ptCount val="6"/>
                <c:lvl>
                  <c:pt idx="0">
                    <c:v>none</c:v>
                  </c:pt>
                  <c:pt idx="1">
                    <c:v>delete 10%</c:v>
                  </c:pt>
                  <c:pt idx="2">
                    <c:v>delete 30%</c:v>
                  </c:pt>
                  <c:pt idx="3">
                    <c:v>synonym 30%</c:v>
                  </c:pt>
                  <c:pt idx="4">
                    <c:v>shuffle in-sentence</c:v>
                  </c:pt>
                  <c:pt idx="5">
                    <c:v>truncate 50%</c:v>
                  </c:pt>
                </c:lvl>
              </c:multiLvlStrCache>
            </c:multiLvlStrRef>
          </c:cat>
          <c:val>
            <c:numRef>
              <c:f>Sheet1!$B$2:$B$7</c:f>
              <c:numCache>
                <c:formatCode>General</c:formatCode>
                <c:ptCount val="6"/>
                <c:pt idx="0">
                  <c:v>100</c:v>
                </c:pt>
                <c:pt idx="1">
                  <c:v>100</c:v>
                </c:pt>
                <c:pt idx="2">
                  <c:v>100</c:v>
                </c:pt>
                <c:pt idx="3">
                  <c:v>100</c:v>
                </c:pt>
                <c:pt idx="4">
                  <c:v>7</c:v>
                </c:pt>
                <c:pt idx="5">
                  <c:v>100</c:v>
                </c:pt>
              </c:numCache>
            </c:numRef>
          </c:val>
        </c:ser>
        <c:ser>
          <c:idx val="1"/>
          <c:order val="1"/>
          <c:tx>
            <c:strRef>
              <c:f>Sheet1!$C$1</c:f>
              <c:strCache>
                <c:ptCount val="1"/>
                <c:pt idx="0">
                  <c:v>SynthID-Text</c:v>
                </c:pt>
              </c:strCache>
            </c:strRef>
          </c:tx>
          <c:spPr>
            <a:solidFill>
              <a:srgbClr val="B08A1E"/>
            </a:solidFill>
            <a:effectLst/>
          </c:spPr>
          <c:invertIfNegative val="0"/>
          <c:dLbls>
            <c:numFmt formatCode="#,##0" sourceLinked="0"/>
            <c:txPr>
              <a:bodyPr/>
              <a:lstStyle/>
              <a:p>
                <a:pPr>
                  <a:defRPr b="0" i="0" strike="noStrike" sz="1000" u="none">
                    <a:solidFill>
                      <a:srgbClr val="13202A"/>
                    </a:solidFill>
                    <a:latin typeface="+mn-lt"/>
                  </a:defRPr>
                </a:pPr>
              </a:p>
            </c:txPr>
            <c:showLegendKey val="0"/>
            <c:showVal val="0"/>
            <c:showCatName val="0"/>
            <c:showSerName val="0"/>
            <c:showPercent val="0"/>
            <c:showBubbleSize val="0"/>
            <c:showLeaderLines val="0"/>
          </c:dLbls>
          <c:cat>
            <c:multiLvlStrRef>
              <c:f>Sheet1!$A$2:$A$7</c:f>
              <c:multiLvlStrCache>
                <c:ptCount val="6"/>
                <c:lvl>
                  <c:pt idx="0">
                    <c:v>none</c:v>
                  </c:pt>
                  <c:pt idx="1">
                    <c:v>delete 10%</c:v>
                  </c:pt>
                  <c:pt idx="2">
                    <c:v>delete 30%</c:v>
                  </c:pt>
                  <c:pt idx="3">
                    <c:v>synonym 30%</c:v>
                  </c:pt>
                  <c:pt idx="4">
                    <c:v>shuffle in-sentence</c:v>
                  </c:pt>
                  <c:pt idx="5">
                    <c:v>truncate 50%</c:v>
                  </c:pt>
                </c:lvl>
              </c:multiLvlStrCache>
            </c:multiLvlStrRef>
          </c:cat>
          <c:val>
            <c:numRef>
              <c:f>Sheet1!$C$2:$C$7</c:f>
              <c:numCache>
                <c:formatCode>General</c:formatCode>
                <c:ptCount val="6"/>
                <c:pt idx="0">
                  <c:v>100</c:v>
                </c:pt>
                <c:pt idx="1">
                  <c:v>100</c:v>
                </c:pt>
                <c:pt idx="2">
                  <c:v>77</c:v>
                </c:pt>
                <c:pt idx="3">
                  <c:v>100</c:v>
                </c:pt>
                <c:pt idx="4">
                  <c:v>3</c:v>
                </c:pt>
                <c:pt idx="5">
                  <c:v>100</c:v>
                </c:pt>
              </c:numCache>
            </c:numRef>
          </c:val>
        </c:ser>
        <c:dLbls>
          <c:numFmt formatCode="#,##0" sourceLinked="0"/>
          <c:txPr>
            <a:bodyPr/>
            <a:lstStyle/>
            <a:p>
              <a:pPr>
                <a:defRPr b="0" i="0" strike="noStrike" sz="1000" u="none">
                  <a:solidFill>
                    <a:srgbClr val="13202A"/>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5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A6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Provenance Lab detects whether content was made by a person or a generative AI model, across four kinds of content, and explains which layer of the system made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Each of these is a real, current harm. The common thread: content alone no longer tells you who made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gap. Each of our design choices answers one of these four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Layer 1 is cheap and certain when a signal exists. Layer 2 covers everything else, including content from tools that never watermark. The uncertain band avoids false accusations.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design: a pretrained deep encoder captures semantics; hand-crafted forensic features capture statistical fingerprints known to separate AI from human content. They are concatenated and fused by an MLP.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SupCon (Khosla et al., 2020). Positives are all samples with the same label in the batch. This is why batch sizes are kept at 16 to 32: each batch needs several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dataset is a real, public benchmark downloaded from Hugging Face. Splits avoid leakage: the same question, or the same speaker, never appears in both train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Shortcut removal matters: human HC3 answers contain tokenisation artefacts like "it 's", and ASVspoof bona fide clips have more silence. Left in, a model could score highly without learning anything about AI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results of the full model (BCE + SupCon + forensic features) for each modality, on test sets never seen during training or validation.
Essays: accuracy 98.3%, F1 98.3%, AUC 0.999.
Code: accuracy 97.6%, F1 97.6%, AUC 0.996.
Images: accuracy 90.7%, F1 90.6%, AUC 0.971.
Voice: accuracy 95.0%, F1 94.9%, AUC 0.988.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deployed models are trained on current generators: voice on ASVspoof plus modern text-to-speech (split by recording and generation, so no clip family is in both train and test), images on GenImage at full resolution with every image re-encoded the same way so file format can't give the answer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Baselines are trained and tested on exactly the same splits. On essays even a single perplexity number scores highly: HC3 is an easy benchmark, which is why we also test out of distribution on the next slides. The deep model's gain is largest where simple features fall short (images, voice,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detectors from Hugging Face, run unchanged on our exact test sets. Be precise when presenting: on these test sets we have a home advantage because we trained on the same benchmarks, except where a public model was trained on it too (marked *). The fair comparison is MAGE, where everyone is out of domain. Commercial tools could not be run without paid API access, so we cite published independent evaluations.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comparison. On benchmarks a specialised public model can win (dima806 on CIFAKE), but on current generators every public detector we could run drops to 52-78%, while our detectors trained on diverse, modern data stay at 78-94%.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'can a detector be 100% accurate?' directly: no. On familiar data we score very high; on new generators and topics every method, including ours, loses accuracy. Our contribution is a system that measures and admits this, rather than claiming perfection.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Diagnosis and fix. The HC3-only model learned ChatGPT's style. Adding diverse training data (many generators and topics from MAGE's training split) changes that. OPT was held out entirely, so its bar is a genuine unseen-generator result. Report the numbers exactly as they came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architecture, same data, same epochs; the only change is removing the SupCon term. In distribution, contrastive learning barely moves accuracy: differences sit inside the 95% confidence interval. Its claimed benefit is generalisation to unseen generators, tested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of each plot: loss; right: accuracy. Validation loss tracking training loss means no overfitting; both being low means no underfitting. The best-validation epoch is restored before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Breaking results down by source shows where the detector is weakest. ASVspoof attacks A07 to A19 include some generators that are notoriously hard to detect (A17, A18).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abstract's generalisation claim, tested directly. Finding 1: the detector does transfer to an unseen LLM, losing about 10-16 points. Finding 2: contrastive learning did not improve that transfer here; the difference is inside the confidence interval (only 100 GPT samples). Present this as an honest negative result and future work: more generators, larger batches for SupCon.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experiment: we embedded real watermarks, then attacked them. Speed change and added noise erase the audio watermark; shuffling words erases text watermarks; re-saving a JPEG strips C2PA. This is why Layer 2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run `python server.py` in the code folder and open http://127.0.0.1:8000. Load an AI-made sample, examine it, show the verdict scale and the correct/wrong banner.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takeaways. Lead with the honest ones: a detector that admits its limits and measures them is more credible than one claiming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these are baseline results. The architecture is in place for the next semester's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73168"/>
            <a:ext cx="3657600" cy="228600"/>
          </a:xfrm>
          <a:prstGeom prst="rect">
            <a:avLst/>
          </a:prstGeom>
          <a:noFill/>
          <a:ln/>
        </p:spPr>
        <p:txBody>
          <a:bodyPr wrap="square" lIns="0" tIns="0" rIns="0" bIns="0" rtlCol="0" anchor="ctr"/>
          <a:lstStyle/>
          <a:p>
            <a:pPr indent="0" marL="0">
              <a:buNone/>
            </a:pPr>
            <a:r>
              <a:rPr lang="en-US" sz="1000" dirty="0">
                <a:solidFill>
                  <a:schemeClr val="tx2"/>
                </a:solidFill>
              </a:rPr>
              <a:t>Provenance Lab</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chart" Target="/ppt/charts/chart10.xml"/><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chart" Target="/ppt/charts/chart15.xml"/><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chart" Target="/ppt/charts/chart18.xml"/><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3.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Provenance Lab</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algn="l" indent="0" marL="0">
              <a:buNone/>
            </a:pPr>
            <a:r>
              <a:rPr lang="en-US" sz="1800" dirty="0">
                <a:solidFill>
                  <a:schemeClr val="accent5"/>
                </a:solidFill>
              </a:rPr>
              <a:t>A two-layer, contrastively trained framework for detecting AI-generated essays, code, images and speech</a:t>
            </a:r>
            <a:endParaRPr lang="en-US" sz="1800" dirty="0"/>
          </a:p>
        </p:txBody>
      </p:sp>
      <p:sp>
        <p:nvSpPr>
          <p:cNvPr id="4" name="Text 2"/>
          <p:cNvSpPr txBox="1"/>
          <p:nvPr/>
        </p:nvSpPr>
        <p:spPr>
          <a:xfrm>
            <a:off x="548640" y="4069080"/>
            <a:ext cx="8046720" cy="548640"/>
          </a:xfrm>
          <a:prstGeom prst="rect">
            <a:avLst/>
          </a:prstGeom>
          <a:noFill/>
          <a:ln/>
        </p:spPr>
        <p:txBody>
          <a:bodyPr wrap="square" lIns="0" tIns="0" rIns="0" bIns="0" rtlCol="0" anchor="t"/>
          <a:lstStyle/>
          <a:p>
            <a:pPr indent="0" marL="0">
              <a:buNone/>
            </a:pPr>
            <a:r>
              <a:rPr lang="en-US" sz="1300" dirty="0">
                <a:solidFill>
                  <a:schemeClr val="bg2"/>
                </a:solidFill>
              </a:rPr>
              <a:t>Sanatan Sharma (CO23355)   Ryanveer Singh (CO23353)</a:t>
            </a:r>
            <a:endParaRPr lang="en-US" sz="1300" dirty="0"/>
          </a:p>
          <a:p>
            <a:pPr indent="0" marL="0">
              <a:buNone/>
            </a:pPr>
            <a:r>
              <a:rPr lang="en-US" sz="1300" dirty="0">
                <a:solidFill>
                  <a:schemeClr val="bg2"/>
                </a:solidFill>
              </a:rPr>
              <a:t>Mentor: Prof. Varun Gupta   CS756 Project-I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AI-made content is now hard to tell apart</a:t>
            </a:r>
            <a:endParaRPr lang="en-US" sz="2600" dirty="0"/>
          </a:p>
        </p:txBody>
      </p:sp>
      <p:sp>
        <p:nvSpPr>
          <p:cNvPr id="3" name="Shape 1"/>
          <p:cNvSpPr/>
          <p:nvPr/>
        </p:nvSpPr>
        <p:spPr>
          <a:xfrm>
            <a:off x="457200" y="1325880"/>
            <a:ext cx="1874520" cy="2377440"/>
          </a:xfrm>
          <a:prstGeom prst="roundRect">
            <a:avLst>
              <a:gd name="adj" fmla="val 5854"/>
            </a:avLst>
          </a:prstGeom>
          <a:solidFill>
            <a:schemeClr val="bg2"/>
          </a:solidFill>
          <a:ln w="12700">
            <a:solidFill>
              <a:schemeClr val="bg2"/>
            </a:solidFill>
            <a:prstDash val="solid"/>
          </a:ln>
        </p:spPr>
      </p:sp>
      <p:sp>
        <p:nvSpPr>
          <p:cNvPr id="4" name="Shape 2"/>
          <p:cNvSpPr/>
          <p:nvPr/>
        </p:nvSpPr>
        <p:spPr>
          <a:xfrm>
            <a:off x="685800" y="1554480"/>
            <a:ext cx="502920" cy="5029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06501" y="1675181"/>
            <a:ext cx="261518" cy="261518"/>
          </a:xfrm>
          <a:prstGeom prst="rect">
            <a:avLst/>
          </a:prstGeom>
        </p:spPr>
      </p:pic>
      <p:sp>
        <p:nvSpPr>
          <p:cNvPr id="6" name="Text 3"/>
          <p:cNvSpPr txBox="1"/>
          <p:nvPr/>
        </p:nvSpPr>
        <p:spPr>
          <a:xfrm>
            <a:off x="685800" y="2240280"/>
            <a:ext cx="1463040" cy="5486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Academic integrity</a:t>
            </a:r>
            <a:endParaRPr lang="en-US" sz="1600" dirty="0"/>
          </a:p>
        </p:txBody>
      </p:sp>
      <p:sp>
        <p:nvSpPr>
          <p:cNvPr id="7" name="Text 4"/>
          <p:cNvSpPr txBox="1"/>
          <p:nvPr/>
        </p:nvSpPr>
        <p:spPr>
          <a:xfrm>
            <a:off x="685800" y="2788920"/>
            <a:ext cx="1463040" cy="822960"/>
          </a:xfrm>
          <a:prstGeom prst="rect">
            <a:avLst/>
          </a:prstGeom>
          <a:noFill/>
          <a:ln/>
        </p:spPr>
        <p:txBody>
          <a:bodyPr wrap="square" lIns="0" tIns="0" rIns="0" bIns="0" rtlCol="0" anchor="t"/>
          <a:lstStyle/>
          <a:p>
            <a:pPr indent="0" marL="0">
              <a:buNone/>
            </a:pPr>
            <a:r>
              <a:rPr lang="en-US" sz="1300" dirty="0">
                <a:solidFill>
                  <a:schemeClr val="tx2"/>
                </a:solidFill>
              </a:rPr>
              <a:t>Essays and assignments written by chatbots</a:t>
            </a:r>
            <a:endParaRPr lang="en-US" sz="1300" dirty="0"/>
          </a:p>
        </p:txBody>
      </p:sp>
      <p:sp>
        <p:nvSpPr>
          <p:cNvPr id="8" name="Shape 5"/>
          <p:cNvSpPr/>
          <p:nvPr/>
        </p:nvSpPr>
        <p:spPr>
          <a:xfrm>
            <a:off x="2560320" y="1325880"/>
            <a:ext cx="1874520" cy="2377440"/>
          </a:xfrm>
          <a:prstGeom prst="roundRect">
            <a:avLst>
              <a:gd name="adj" fmla="val 5854"/>
            </a:avLst>
          </a:prstGeom>
          <a:solidFill>
            <a:schemeClr val="bg2"/>
          </a:solidFill>
          <a:ln w="12700">
            <a:solidFill>
              <a:schemeClr val="bg2"/>
            </a:solidFill>
            <a:prstDash val="solid"/>
          </a:ln>
        </p:spPr>
      </p:sp>
      <p:sp>
        <p:nvSpPr>
          <p:cNvPr id="9" name="Shape 6"/>
          <p:cNvSpPr/>
          <p:nvPr/>
        </p:nvSpPr>
        <p:spPr>
          <a:xfrm>
            <a:off x="2788920" y="1554480"/>
            <a:ext cx="502920" cy="50292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2909621" y="1675181"/>
            <a:ext cx="261518" cy="261518"/>
          </a:xfrm>
          <a:prstGeom prst="rect">
            <a:avLst/>
          </a:prstGeom>
        </p:spPr>
      </p:pic>
      <p:sp>
        <p:nvSpPr>
          <p:cNvPr id="11" name="Text 7"/>
          <p:cNvSpPr txBox="1"/>
          <p:nvPr/>
        </p:nvSpPr>
        <p:spPr>
          <a:xfrm>
            <a:off x="2788920" y="2240280"/>
            <a:ext cx="1463040" cy="5486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Code authenticity</a:t>
            </a:r>
            <a:endParaRPr lang="en-US" sz="1600" dirty="0"/>
          </a:p>
        </p:txBody>
      </p:sp>
      <p:sp>
        <p:nvSpPr>
          <p:cNvPr id="12" name="Text 8"/>
          <p:cNvSpPr txBox="1"/>
          <p:nvPr/>
        </p:nvSpPr>
        <p:spPr>
          <a:xfrm>
            <a:off x="2788920" y="2788920"/>
            <a:ext cx="1463040" cy="822960"/>
          </a:xfrm>
          <a:prstGeom prst="rect">
            <a:avLst/>
          </a:prstGeom>
          <a:noFill/>
          <a:ln/>
        </p:spPr>
        <p:txBody>
          <a:bodyPr wrap="square" lIns="0" tIns="0" rIns="0" bIns="0" rtlCol="0" anchor="t"/>
          <a:lstStyle/>
          <a:p>
            <a:pPr indent="0" marL="0">
              <a:buNone/>
            </a:pPr>
            <a:r>
              <a:rPr lang="en-US" sz="1300" dirty="0">
                <a:solidFill>
                  <a:schemeClr val="tx2"/>
                </a:solidFill>
              </a:rPr>
              <a:t>AI-written code submitted as original work</a:t>
            </a:r>
            <a:endParaRPr lang="en-US" sz="1300" dirty="0"/>
          </a:p>
        </p:txBody>
      </p:sp>
      <p:sp>
        <p:nvSpPr>
          <p:cNvPr id="13" name="Shape 9"/>
          <p:cNvSpPr/>
          <p:nvPr/>
        </p:nvSpPr>
        <p:spPr>
          <a:xfrm>
            <a:off x="4663440" y="1325880"/>
            <a:ext cx="1874520" cy="2377440"/>
          </a:xfrm>
          <a:prstGeom prst="roundRect">
            <a:avLst>
              <a:gd name="adj" fmla="val 5854"/>
            </a:avLst>
          </a:prstGeom>
          <a:solidFill>
            <a:schemeClr val="bg2"/>
          </a:solidFill>
          <a:ln w="12700">
            <a:solidFill>
              <a:schemeClr val="bg2"/>
            </a:solidFill>
            <a:prstDash val="solid"/>
          </a:ln>
        </p:spPr>
      </p:sp>
      <p:sp>
        <p:nvSpPr>
          <p:cNvPr id="14" name="Shape 10"/>
          <p:cNvSpPr/>
          <p:nvPr/>
        </p:nvSpPr>
        <p:spPr>
          <a:xfrm>
            <a:off x="4892040" y="1554480"/>
            <a:ext cx="502920" cy="50292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5012741" y="1675181"/>
            <a:ext cx="261518" cy="261518"/>
          </a:xfrm>
          <a:prstGeom prst="rect">
            <a:avLst/>
          </a:prstGeom>
        </p:spPr>
      </p:pic>
      <p:sp>
        <p:nvSpPr>
          <p:cNvPr id="16" name="Text 11"/>
          <p:cNvSpPr txBox="1"/>
          <p:nvPr/>
        </p:nvSpPr>
        <p:spPr>
          <a:xfrm>
            <a:off x="4892040" y="2240280"/>
            <a:ext cx="1463040" cy="5486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Misinformation</a:t>
            </a:r>
            <a:endParaRPr lang="en-US" sz="1600" dirty="0"/>
          </a:p>
        </p:txBody>
      </p:sp>
      <p:sp>
        <p:nvSpPr>
          <p:cNvPr id="17" name="Text 12"/>
          <p:cNvSpPr txBox="1"/>
          <p:nvPr/>
        </p:nvSpPr>
        <p:spPr>
          <a:xfrm>
            <a:off x="4892040" y="2788920"/>
            <a:ext cx="1463040" cy="822960"/>
          </a:xfrm>
          <a:prstGeom prst="rect">
            <a:avLst/>
          </a:prstGeom>
          <a:noFill/>
          <a:ln/>
        </p:spPr>
        <p:txBody>
          <a:bodyPr wrap="square" lIns="0" tIns="0" rIns="0" bIns="0" rtlCol="0" anchor="t"/>
          <a:lstStyle/>
          <a:p>
            <a:pPr indent="0" marL="0">
              <a:buNone/>
            </a:pPr>
            <a:r>
              <a:rPr lang="en-US" sz="1300" dirty="0">
                <a:solidFill>
                  <a:schemeClr val="tx2"/>
                </a:solidFill>
              </a:rPr>
              <a:t>Photorealistic synthetic images spread as real</a:t>
            </a:r>
            <a:endParaRPr lang="en-US" sz="1300" dirty="0"/>
          </a:p>
        </p:txBody>
      </p:sp>
      <p:sp>
        <p:nvSpPr>
          <p:cNvPr id="18" name="Shape 13"/>
          <p:cNvSpPr/>
          <p:nvPr/>
        </p:nvSpPr>
        <p:spPr>
          <a:xfrm>
            <a:off x="6766560" y="1325880"/>
            <a:ext cx="1874520" cy="2377440"/>
          </a:xfrm>
          <a:prstGeom prst="roundRect">
            <a:avLst>
              <a:gd name="adj" fmla="val 5854"/>
            </a:avLst>
          </a:prstGeom>
          <a:solidFill>
            <a:schemeClr val="bg2"/>
          </a:solidFill>
          <a:ln w="12700">
            <a:solidFill>
              <a:schemeClr val="bg2"/>
            </a:solidFill>
            <a:prstDash val="solid"/>
          </a:ln>
        </p:spPr>
      </p:sp>
      <p:sp>
        <p:nvSpPr>
          <p:cNvPr id="19" name="Shape 14"/>
          <p:cNvSpPr/>
          <p:nvPr/>
        </p:nvSpPr>
        <p:spPr>
          <a:xfrm>
            <a:off x="6995160" y="1554480"/>
            <a:ext cx="502920" cy="50292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7115861" y="1675181"/>
            <a:ext cx="261518" cy="261518"/>
          </a:xfrm>
          <a:prstGeom prst="rect">
            <a:avLst/>
          </a:prstGeom>
        </p:spPr>
      </p:pic>
      <p:sp>
        <p:nvSpPr>
          <p:cNvPr id="21" name="Text 15"/>
          <p:cNvSpPr txBox="1"/>
          <p:nvPr/>
        </p:nvSpPr>
        <p:spPr>
          <a:xfrm>
            <a:off x="6995160" y="2240280"/>
            <a:ext cx="1463040" cy="5486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Voice fraud</a:t>
            </a:r>
            <a:endParaRPr lang="en-US" sz="1600" dirty="0"/>
          </a:p>
        </p:txBody>
      </p:sp>
      <p:sp>
        <p:nvSpPr>
          <p:cNvPr id="22" name="Text 16"/>
          <p:cNvSpPr txBox="1"/>
          <p:nvPr/>
        </p:nvSpPr>
        <p:spPr>
          <a:xfrm>
            <a:off x="6995160" y="2788920"/>
            <a:ext cx="1463040" cy="822960"/>
          </a:xfrm>
          <a:prstGeom prst="rect">
            <a:avLst/>
          </a:prstGeom>
          <a:noFill/>
          <a:ln/>
        </p:spPr>
        <p:txBody>
          <a:bodyPr wrap="square" lIns="0" tIns="0" rIns="0" bIns="0" rtlCol="0" anchor="t"/>
          <a:lstStyle/>
          <a:p>
            <a:pPr indent="0" marL="0">
              <a:buNone/>
            </a:pPr>
            <a:r>
              <a:rPr lang="en-US" sz="1300" dirty="0">
                <a:solidFill>
                  <a:schemeClr val="tx2"/>
                </a:solidFill>
              </a:rPr>
              <a:t>Cloned voices used in scam calls</a:t>
            </a:r>
            <a:endParaRPr lang="en-US" sz="1300" dirty="0"/>
          </a:p>
        </p:txBody>
      </p:sp>
      <p:sp>
        <p:nvSpPr>
          <p:cNvPr id="23" name="Text 17"/>
          <p:cNvSpPr txBox="1"/>
          <p:nvPr/>
        </p:nvSpPr>
        <p:spPr>
          <a:xfrm>
            <a:off x="457200" y="3931920"/>
            <a:ext cx="8229600" cy="640080"/>
          </a:xfrm>
          <a:prstGeom prst="rect">
            <a:avLst/>
          </a:prstGeom>
          <a:noFill/>
          <a:ln/>
        </p:spPr>
        <p:txBody>
          <a:bodyPr wrap="square" lIns="0" tIns="0" rIns="0" bIns="0" rtlCol="0" anchor="t"/>
          <a:lstStyle/>
          <a:p>
            <a:pPr indent="0" marL="0">
              <a:buNone/>
            </a:pPr>
            <a:r>
              <a:rPr lang="en-US" sz="1500" dirty="0">
                <a:solidFill>
                  <a:schemeClr val="tx1"/>
                </a:solidFill>
              </a:rPr>
              <a:t>One detector per problem doesn't scale. We need one framework that covers all four, works on generators it hasn't seen, and says why it decided.</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What existing detectors get wrong</a:t>
            </a:r>
            <a:endParaRPr lang="en-US" sz="2600" dirty="0"/>
          </a:p>
        </p:txBody>
      </p:sp>
      <p:sp>
        <p:nvSpPr>
          <p:cNvPr id="3" name="Shape 1"/>
          <p:cNvSpPr/>
          <p:nvPr/>
        </p:nvSpPr>
        <p:spPr>
          <a:xfrm>
            <a:off x="457200" y="1188720"/>
            <a:ext cx="457200" cy="457200"/>
          </a:xfrm>
          <a:prstGeom prst="ellipse">
            <a:avLst/>
          </a:prstGeom>
          <a:solidFill>
            <a:schemeClr val="accent3"/>
          </a:solidFill>
          <a:ln w="12700">
            <a:solidFill>
              <a:schemeClr val="accent3"/>
            </a:solidFill>
            <a:prstDash val="solid"/>
          </a:ln>
        </p:spPr>
      </p:sp>
      <p:pic>
        <p:nvPicPr>
          <p:cNvPr id="4" name="Image 0" descr="preencoded.png">    </p:cNvPr>
          <p:cNvPicPr>
            <a:picLocks noChangeAspect="1"/>
          </p:cNvPicPr>
          <p:nvPr/>
        </p:nvPicPr>
        <p:blipFill>
          <a:blip r:embed="rId1"/>
          <a:stretch>
            <a:fillRect/>
          </a:stretch>
        </p:blipFill>
        <p:spPr>
          <a:xfrm>
            <a:off x="566928" y="1298448"/>
            <a:ext cx="237744" cy="237744"/>
          </a:xfrm>
          <a:prstGeom prst="rect">
            <a:avLst/>
          </a:prstGeom>
        </p:spPr>
      </p:pic>
      <p:sp>
        <p:nvSpPr>
          <p:cNvPr id="5" name="Text 2"/>
          <p:cNvSpPr txBox="1"/>
          <p:nvPr/>
        </p:nvSpPr>
        <p:spPr>
          <a:xfrm>
            <a:off x="1097280" y="1170432"/>
            <a:ext cx="274320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Single modality</a:t>
            </a:r>
            <a:endParaRPr lang="en-US" sz="1600" dirty="0"/>
          </a:p>
        </p:txBody>
      </p:sp>
      <p:sp>
        <p:nvSpPr>
          <p:cNvPr id="6" name="Text 3"/>
          <p:cNvSpPr txBox="1"/>
          <p:nvPr/>
        </p:nvSpPr>
        <p:spPr>
          <a:xfrm>
            <a:off x="3840480" y="1170432"/>
            <a:ext cx="4846320" cy="548640"/>
          </a:xfrm>
          <a:prstGeom prst="rect">
            <a:avLst/>
          </a:prstGeom>
          <a:noFill/>
          <a:ln/>
        </p:spPr>
        <p:txBody>
          <a:bodyPr wrap="square" lIns="0" tIns="0" rIns="0" bIns="0" rtlCol="0" anchor="ctr"/>
          <a:lstStyle/>
          <a:p>
            <a:pPr indent="0" marL="0">
              <a:buNone/>
            </a:pPr>
            <a:r>
              <a:rPr lang="en-US" sz="1400" dirty="0">
                <a:solidFill>
                  <a:schemeClr val="tx2"/>
                </a:solidFill>
              </a:rPr>
              <a:t>Text detectors, image detectors and voice anti-spoofing are separate systems with separate interfaces.</a:t>
            </a:r>
            <a:endParaRPr lang="en-US" sz="1400" dirty="0"/>
          </a:p>
        </p:txBody>
      </p:sp>
      <p:sp>
        <p:nvSpPr>
          <p:cNvPr id="7" name="Shape 4"/>
          <p:cNvSpPr/>
          <p:nvPr/>
        </p:nvSpPr>
        <p:spPr>
          <a:xfrm>
            <a:off x="457200" y="2057400"/>
            <a:ext cx="457200" cy="457200"/>
          </a:xfrm>
          <a:prstGeom prst="ellipse">
            <a:avLst/>
          </a:prstGeom>
          <a:solidFill>
            <a:schemeClr val="accent3"/>
          </a:solidFill>
          <a:ln w="12700">
            <a:solidFill>
              <a:schemeClr val="accent3"/>
            </a:solidFill>
            <a:prstDash val="solid"/>
          </a:ln>
        </p:spPr>
      </p:sp>
      <p:pic>
        <p:nvPicPr>
          <p:cNvPr id="8" name="Image 1" descr="preencoded.png">    </p:cNvPr>
          <p:cNvPicPr>
            <a:picLocks noChangeAspect="1"/>
          </p:cNvPicPr>
          <p:nvPr/>
        </p:nvPicPr>
        <p:blipFill>
          <a:blip r:embed="rId2"/>
          <a:stretch>
            <a:fillRect/>
          </a:stretch>
        </p:blipFill>
        <p:spPr>
          <a:xfrm>
            <a:off x="566928" y="2167128"/>
            <a:ext cx="237744" cy="237744"/>
          </a:xfrm>
          <a:prstGeom prst="rect">
            <a:avLst/>
          </a:prstGeom>
        </p:spPr>
      </p:pic>
      <p:sp>
        <p:nvSpPr>
          <p:cNvPr id="9" name="Text 5"/>
          <p:cNvSpPr txBox="1"/>
          <p:nvPr/>
        </p:nvSpPr>
        <p:spPr>
          <a:xfrm>
            <a:off x="1097280" y="2039112"/>
            <a:ext cx="274320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Break on new generators</a:t>
            </a:r>
            <a:endParaRPr lang="en-US" sz="1600" dirty="0"/>
          </a:p>
        </p:txBody>
      </p:sp>
      <p:sp>
        <p:nvSpPr>
          <p:cNvPr id="10" name="Text 6"/>
          <p:cNvSpPr txBox="1"/>
          <p:nvPr/>
        </p:nvSpPr>
        <p:spPr>
          <a:xfrm>
            <a:off x="3840480" y="2039112"/>
            <a:ext cx="4846320" cy="548640"/>
          </a:xfrm>
          <a:prstGeom prst="rect">
            <a:avLst/>
          </a:prstGeom>
          <a:noFill/>
          <a:ln/>
        </p:spPr>
        <p:txBody>
          <a:bodyPr wrap="square" lIns="0" tIns="0" rIns="0" bIns="0" rtlCol="0" anchor="ctr"/>
          <a:lstStyle/>
          <a:p>
            <a:pPr indent="0" marL="0">
              <a:buNone/>
            </a:pPr>
            <a:r>
              <a:rPr lang="en-US" sz="1400" dirty="0">
                <a:solidFill>
                  <a:schemeClr val="tx2"/>
                </a:solidFill>
              </a:rPr>
              <a:t>Classifiers learn one model's quirks and fail when a newer model arrives.</a:t>
            </a:r>
            <a:endParaRPr lang="en-US" sz="1400" dirty="0"/>
          </a:p>
        </p:txBody>
      </p:sp>
      <p:sp>
        <p:nvSpPr>
          <p:cNvPr id="11" name="Shape 7"/>
          <p:cNvSpPr/>
          <p:nvPr/>
        </p:nvSpPr>
        <p:spPr>
          <a:xfrm>
            <a:off x="457200" y="2926080"/>
            <a:ext cx="457200" cy="457200"/>
          </a:xfrm>
          <a:prstGeom prst="ellipse">
            <a:avLst/>
          </a:prstGeom>
          <a:solidFill>
            <a:schemeClr val="accent3"/>
          </a:solidFill>
          <a:ln w="12700">
            <a:solidFill>
              <a:schemeClr val="accent3"/>
            </a:solidFill>
            <a:prstDash val="solid"/>
          </a:ln>
        </p:spPr>
      </p:sp>
      <p:pic>
        <p:nvPicPr>
          <p:cNvPr id="12" name="Image 2" descr="preencoded.png">    </p:cNvPr>
          <p:cNvPicPr>
            <a:picLocks noChangeAspect="1"/>
          </p:cNvPicPr>
          <p:nvPr/>
        </p:nvPicPr>
        <p:blipFill>
          <a:blip r:embed="rId3"/>
          <a:stretch>
            <a:fillRect/>
          </a:stretch>
        </p:blipFill>
        <p:spPr>
          <a:xfrm>
            <a:off x="566928" y="3035808"/>
            <a:ext cx="237744" cy="237744"/>
          </a:xfrm>
          <a:prstGeom prst="rect">
            <a:avLst/>
          </a:prstGeom>
        </p:spPr>
      </p:pic>
      <p:sp>
        <p:nvSpPr>
          <p:cNvPr id="13" name="Text 8"/>
          <p:cNvSpPr txBox="1"/>
          <p:nvPr/>
        </p:nvSpPr>
        <p:spPr>
          <a:xfrm>
            <a:off x="1097280" y="2907792"/>
            <a:ext cx="274320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Watermarks only help if present</a:t>
            </a:r>
            <a:endParaRPr lang="en-US" sz="1600" dirty="0"/>
          </a:p>
        </p:txBody>
      </p:sp>
      <p:sp>
        <p:nvSpPr>
          <p:cNvPr id="14" name="Text 9"/>
          <p:cNvSpPr txBox="1"/>
          <p:nvPr/>
        </p:nvSpPr>
        <p:spPr>
          <a:xfrm>
            <a:off x="3840480" y="2907792"/>
            <a:ext cx="4846320" cy="548640"/>
          </a:xfrm>
          <a:prstGeom prst="rect">
            <a:avLst/>
          </a:prstGeom>
          <a:noFill/>
          <a:ln/>
        </p:spPr>
        <p:txBody>
          <a:bodyPr wrap="square" lIns="0" tIns="0" rIns="0" bIns="0" rtlCol="0" anchor="ctr"/>
          <a:lstStyle/>
          <a:p>
            <a:pPr indent="0" marL="0">
              <a:buNone/>
            </a:pPr>
            <a:r>
              <a:rPr lang="en-US" sz="1400" dirty="0">
                <a:solidFill>
                  <a:schemeClr val="tx2"/>
                </a:solidFill>
              </a:rPr>
              <a:t>SynthID and C2PA prove origin, but most tools don't add them and edits strip them.</a:t>
            </a:r>
            <a:endParaRPr lang="en-US" sz="1400" dirty="0"/>
          </a:p>
        </p:txBody>
      </p:sp>
      <p:sp>
        <p:nvSpPr>
          <p:cNvPr id="15" name="Shape 10"/>
          <p:cNvSpPr/>
          <p:nvPr/>
        </p:nvSpPr>
        <p:spPr>
          <a:xfrm>
            <a:off x="457200" y="3794760"/>
            <a:ext cx="457200" cy="457200"/>
          </a:xfrm>
          <a:prstGeom prst="ellipse">
            <a:avLst/>
          </a:prstGeom>
          <a:solidFill>
            <a:schemeClr val="accent3"/>
          </a:solidFill>
          <a:ln w="12700">
            <a:solidFill>
              <a:schemeClr val="accent3"/>
            </a:solidFill>
            <a:prstDash val="solid"/>
          </a:ln>
        </p:spPr>
      </p:sp>
      <p:pic>
        <p:nvPicPr>
          <p:cNvPr id="16" name="Image 3" descr="preencoded.png">    </p:cNvPr>
          <p:cNvPicPr>
            <a:picLocks noChangeAspect="1"/>
          </p:cNvPicPr>
          <p:nvPr/>
        </p:nvPicPr>
        <p:blipFill>
          <a:blip r:embed="rId4"/>
          <a:stretch>
            <a:fillRect/>
          </a:stretch>
        </p:blipFill>
        <p:spPr>
          <a:xfrm>
            <a:off x="566928" y="3904488"/>
            <a:ext cx="237744" cy="237744"/>
          </a:xfrm>
          <a:prstGeom prst="rect">
            <a:avLst/>
          </a:prstGeom>
        </p:spPr>
      </p:pic>
      <p:sp>
        <p:nvSpPr>
          <p:cNvPr id="17" name="Text 11"/>
          <p:cNvSpPr txBox="1"/>
          <p:nvPr/>
        </p:nvSpPr>
        <p:spPr>
          <a:xfrm>
            <a:off x="1097280" y="3776472"/>
            <a:ext cx="274320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Over-confident verdicts</a:t>
            </a:r>
            <a:endParaRPr lang="en-US" sz="1600" dirty="0"/>
          </a:p>
        </p:txBody>
      </p:sp>
      <p:sp>
        <p:nvSpPr>
          <p:cNvPr id="18" name="Text 12"/>
          <p:cNvSpPr txBox="1"/>
          <p:nvPr/>
        </p:nvSpPr>
        <p:spPr>
          <a:xfrm>
            <a:off x="3840480" y="3776472"/>
            <a:ext cx="4846320" cy="548640"/>
          </a:xfrm>
          <a:prstGeom prst="rect">
            <a:avLst/>
          </a:prstGeom>
          <a:noFill/>
          <a:ln/>
        </p:spPr>
        <p:txBody>
          <a:bodyPr wrap="square" lIns="0" tIns="0" rIns="0" bIns="0" rtlCol="0" anchor="ctr"/>
          <a:lstStyle/>
          <a:p>
            <a:pPr indent="0" marL="0">
              <a:buNone/>
            </a:pPr>
            <a:r>
              <a:rPr lang="en-US" sz="1400" dirty="0">
                <a:solidFill>
                  <a:schemeClr val="tx2"/>
                </a:solidFill>
              </a:rPr>
              <a:t>A forced yes/no wrongly accuses people; there is no 'not sure' outcome.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Two layers: proof first, then a trained detector</a:t>
            </a:r>
            <a:endParaRPr lang="en-US" sz="2600" dirty="0"/>
          </a:p>
        </p:txBody>
      </p:sp>
      <p:sp>
        <p:nvSpPr>
          <p:cNvPr id="3" name="Shape 1"/>
          <p:cNvSpPr/>
          <p:nvPr/>
        </p:nvSpPr>
        <p:spPr>
          <a:xfrm>
            <a:off x="457200" y="1874520"/>
            <a:ext cx="1463040" cy="1188720"/>
          </a:xfrm>
          <a:prstGeom prst="roundRect">
            <a:avLst>
              <a:gd name="adj" fmla="val 7692"/>
            </a:avLst>
          </a:prstGeom>
          <a:solidFill>
            <a:schemeClr val="bg2"/>
          </a:solidFill>
          <a:ln w="12700">
            <a:solidFill>
              <a:schemeClr val="bg2"/>
            </a:solidFill>
            <a:prstDash val="solid"/>
          </a:ln>
        </p:spPr>
      </p:sp>
      <p:sp>
        <p:nvSpPr>
          <p:cNvPr id="4" name="Text 2"/>
          <p:cNvSpPr txBox="1"/>
          <p:nvPr/>
        </p:nvSpPr>
        <p:spPr>
          <a:xfrm>
            <a:off x="594360" y="1984248"/>
            <a:ext cx="1188720" cy="3200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Input</a:t>
            </a:r>
            <a:endParaRPr lang="en-US" sz="1400" dirty="0"/>
          </a:p>
        </p:txBody>
      </p:sp>
      <p:sp>
        <p:nvSpPr>
          <p:cNvPr id="5" name="Text 3"/>
          <p:cNvSpPr txBox="1"/>
          <p:nvPr/>
        </p:nvSpPr>
        <p:spPr>
          <a:xfrm>
            <a:off x="594360" y="2304288"/>
            <a:ext cx="1188720" cy="685800"/>
          </a:xfrm>
          <a:prstGeom prst="rect">
            <a:avLst/>
          </a:prstGeom>
          <a:noFill/>
          <a:ln/>
        </p:spPr>
        <p:txBody>
          <a:bodyPr wrap="square" lIns="0" tIns="0" rIns="0" bIns="0" rtlCol="0" anchor="t"/>
          <a:lstStyle/>
          <a:p>
            <a:pPr indent="0" marL="0">
              <a:buNone/>
            </a:pPr>
            <a:r>
              <a:rPr lang="en-US" sz="1200" dirty="0">
                <a:solidFill>
                  <a:schemeClr val="tx2"/>
                </a:solidFill>
              </a:rPr>
              <a:t>Essay, Python file, image or voice clip</a:t>
            </a:r>
            <a:endParaRPr lang="en-US" sz="1200" dirty="0"/>
          </a:p>
        </p:txBody>
      </p:sp>
      <p:sp>
        <p:nvSpPr>
          <p:cNvPr id="6" name="Shape 4"/>
          <p:cNvSpPr/>
          <p:nvPr/>
        </p:nvSpPr>
        <p:spPr>
          <a:xfrm>
            <a:off x="1920240" y="2468880"/>
            <a:ext cx="365760" cy="0"/>
          </a:xfrm>
          <a:prstGeom prst="line">
            <a:avLst/>
          </a:prstGeom>
          <a:noFill/>
          <a:ln w="19050">
            <a:solidFill>
              <a:srgbClr val="4A5A66"/>
            </a:solidFill>
            <a:prstDash val="solid"/>
            <a:tailEnd type="triangle"/>
          </a:ln>
        </p:spPr>
      </p:sp>
      <p:sp>
        <p:nvSpPr>
          <p:cNvPr id="7" name="Shape 5"/>
          <p:cNvSpPr/>
          <p:nvPr/>
        </p:nvSpPr>
        <p:spPr>
          <a:xfrm>
            <a:off x="2286000" y="1143000"/>
            <a:ext cx="2468880" cy="1188720"/>
          </a:xfrm>
          <a:prstGeom prst="roundRect">
            <a:avLst>
              <a:gd name="adj" fmla="val 7692"/>
            </a:avLst>
          </a:prstGeom>
          <a:solidFill>
            <a:schemeClr val="accent1"/>
          </a:solidFill>
          <a:ln w="12700">
            <a:solidFill>
              <a:schemeClr val="accent1"/>
            </a:solidFill>
            <a:prstDash val="solid"/>
          </a:ln>
        </p:spPr>
      </p:sp>
      <p:sp>
        <p:nvSpPr>
          <p:cNvPr id="8" name="Text 6"/>
          <p:cNvSpPr txBox="1"/>
          <p:nvPr/>
        </p:nvSpPr>
        <p:spPr>
          <a:xfrm>
            <a:off x="2423160" y="1252728"/>
            <a:ext cx="2194560" cy="320040"/>
          </a:xfrm>
          <a:prstGeom prst="rect">
            <a:avLst/>
          </a:prstGeom>
          <a:noFill/>
          <a:ln/>
        </p:spPr>
        <p:txBody>
          <a:bodyPr wrap="square" lIns="0" tIns="0" rIns="0" bIns="0" rtlCol="0" anchor="t"/>
          <a:lstStyle/>
          <a:p>
            <a:pPr indent="0" marL="0">
              <a:buNone/>
            </a:pPr>
            <a:r>
              <a:rPr lang="en-US" sz="1400" b="1" dirty="0">
                <a:solidFill>
                  <a:schemeClr val="bg1"/>
                </a:solidFill>
                <a:latin typeface="+mj-lt" pitchFamily="34" charset="0"/>
                <a:ea typeface="+mj-lt" pitchFamily="34" charset="-122"/>
                <a:cs typeface="+mj-lt" pitchFamily="34" charset="-120"/>
              </a:rPr>
              <a:t>Layer 1: provenance</a:t>
            </a:r>
            <a:endParaRPr lang="en-US" sz="1400" dirty="0"/>
          </a:p>
        </p:txBody>
      </p:sp>
      <p:sp>
        <p:nvSpPr>
          <p:cNvPr id="9" name="Text 7"/>
          <p:cNvSpPr txBox="1"/>
          <p:nvPr/>
        </p:nvSpPr>
        <p:spPr>
          <a:xfrm>
            <a:off x="2423160" y="1572768"/>
            <a:ext cx="2194560" cy="685800"/>
          </a:xfrm>
          <a:prstGeom prst="rect">
            <a:avLst/>
          </a:prstGeom>
          <a:noFill/>
          <a:ln/>
        </p:spPr>
        <p:txBody>
          <a:bodyPr wrap="square" lIns="0" tIns="0" rIns="0" bIns="0" rtlCol="0" anchor="t"/>
          <a:lstStyle/>
          <a:p>
            <a:pPr indent="0" marL="0">
              <a:buNone/>
            </a:pPr>
            <a:r>
              <a:rPr lang="en-US" sz="1200" dirty="0">
                <a:solidFill>
                  <a:schemeClr val="bg2"/>
                </a:solidFill>
              </a:rPr>
              <a:t>C2PA credentials, AudioSeal and text watermarks</a:t>
            </a:r>
            <a:endParaRPr lang="en-US" sz="1200" dirty="0"/>
          </a:p>
        </p:txBody>
      </p:sp>
      <p:sp>
        <p:nvSpPr>
          <p:cNvPr id="10" name="Shape 8"/>
          <p:cNvSpPr/>
          <p:nvPr/>
        </p:nvSpPr>
        <p:spPr>
          <a:xfrm>
            <a:off x="4754880" y="1737360"/>
            <a:ext cx="2011680" cy="0"/>
          </a:xfrm>
          <a:prstGeom prst="line">
            <a:avLst/>
          </a:prstGeom>
          <a:noFill/>
          <a:ln w="19050">
            <a:solidFill>
              <a:srgbClr val="4A5A66"/>
            </a:solidFill>
            <a:prstDash val="solid"/>
            <a:tailEnd type="triangle"/>
          </a:ln>
        </p:spPr>
      </p:sp>
      <p:sp>
        <p:nvSpPr>
          <p:cNvPr id="11" name="Shape 9"/>
          <p:cNvSpPr/>
          <p:nvPr/>
        </p:nvSpPr>
        <p:spPr>
          <a:xfrm>
            <a:off x="6766560" y="1143000"/>
            <a:ext cx="1920240" cy="1188720"/>
          </a:xfrm>
          <a:prstGeom prst="roundRect">
            <a:avLst>
              <a:gd name="adj" fmla="val 7692"/>
            </a:avLst>
          </a:prstGeom>
          <a:solidFill>
            <a:schemeClr val="accent3"/>
          </a:solidFill>
          <a:ln w="12700">
            <a:solidFill>
              <a:schemeClr val="accent3"/>
            </a:solidFill>
            <a:prstDash val="solid"/>
          </a:ln>
        </p:spPr>
      </p:sp>
      <p:sp>
        <p:nvSpPr>
          <p:cNvPr id="12" name="Text 10"/>
          <p:cNvSpPr txBox="1"/>
          <p:nvPr/>
        </p:nvSpPr>
        <p:spPr>
          <a:xfrm>
            <a:off x="6903720" y="1252728"/>
            <a:ext cx="1645920" cy="320040"/>
          </a:xfrm>
          <a:prstGeom prst="rect">
            <a:avLst/>
          </a:prstGeom>
          <a:noFill/>
          <a:ln/>
        </p:spPr>
        <p:txBody>
          <a:bodyPr wrap="square" lIns="0" tIns="0" rIns="0" bIns="0" rtlCol="0" anchor="t"/>
          <a:lstStyle/>
          <a:p>
            <a:pPr indent="0" marL="0">
              <a:buNone/>
            </a:pPr>
            <a:r>
              <a:rPr lang="en-US" sz="1400" b="1" dirty="0">
                <a:solidFill>
                  <a:schemeClr val="bg1"/>
                </a:solidFill>
                <a:latin typeface="+mj-lt" pitchFamily="34" charset="0"/>
                <a:ea typeface="+mj-lt" pitchFamily="34" charset="-122"/>
                <a:cs typeface="+mj-lt" pitchFamily="34" charset="-120"/>
              </a:rPr>
              <a:t>AI-generated</a:t>
            </a:r>
            <a:endParaRPr lang="en-US" sz="1400" dirty="0"/>
          </a:p>
        </p:txBody>
      </p:sp>
      <p:sp>
        <p:nvSpPr>
          <p:cNvPr id="13" name="Text 11"/>
          <p:cNvSpPr txBox="1"/>
          <p:nvPr/>
        </p:nvSpPr>
        <p:spPr>
          <a:xfrm>
            <a:off x="6903720" y="1572768"/>
            <a:ext cx="1645920" cy="685800"/>
          </a:xfrm>
          <a:prstGeom prst="rect">
            <a:avLst/>
          </a:prstGeom>
          <a:noFill/>
          <a:ln/>
        </p:spPr>
        <p:txBody>
          <a:bodyPr wrap="square" lIns="0" tIns="0" rIns="0" bIns="0" rtlCol="0" anchor="t"/>
          <a:lstStyle/>
          <a:p>
            <a:pPr indent="0" marL="0">
              <a:buNone/>
            </a:pPr>
            <a:r>
              <a:rPr lang="en-US" sz="1200" dirty="0">
                <a:solidFill>
                  <a:schemeClr val="bg2"/>
                </a:solidFill>
              </a:rPr>
              <a:t>Verifiable proof, stop here</a:t>
            </a:r>
            <a:endParaRPr lang="en-US" sz="1200" dirty="0"/>
          </a:p>
        </p:txBody>
      </p:sp>
      <p:sp>
        <p:nvSpPr>
          <p:cNvPr id="14" name="Shape 12"/>
          <p:cNvSpPr/>
          <p:nvPr/>
        </p:nvSpPr>
        <p:spPr>
          <a:xfrm>
            <a:off x="3520440" y="2331720"/>
            <a:ext cx="0" cy="365760"/>
          </a:xfrm>
          <a:prstGeom prst="line">
            <a:avLst/>
          </a:prstGeom>
          <a:noFill/>
          <a:ln w="19050">
            <a:solidFill>
              <a:srgbClr val="4A5A66"/>
            </a:solidFill>
            <a:prstDash val="solid"/>
            <a:tailEnd type="triangle"/>
          </a:ln>
        </p:spPr>
      </p:sp>
      <p:sp>
        <p:nvSpPr>
          <p:cNvPr id="15" name="Text 13"/>
          <p:cNvSpPr txBox="1"/>
          <p:nvPr/>
        </p:nvSpPr>
        <p:spPr>
          <a:xfrm>
            <a:off x="3611880" y="2377440"/>
            <a:ext cx="1280160" cy="274320"/>
          </a:xfrm>
          <a:prstGeom prst="rect">
            <a:avLst/>
          </a:prstGeom>
          <a:noFill/>
          <a:ln/>
        </p:spPr>
        <p:txBody>
          <a:bodyPr wrap="square" lIns="0" tIns="0" rIns="0" bIns="0" rtlCol="0" anchor="t"/>
          <a:lstStyle/>
          <a:p>
            <a:pPr indent="0" marL="0">
              <a:buNone/>
            </a:pPr>
            <a:r>
              <a:rPr lang="en-US" sz="1100" dirty="0">
                <a:solidFill>
                  <a:schemeClr val="tx2"/>
                </a:solidFill>
              </a:rPr>
              <a:t>nothing found</a:t>
            </a:r>
            <a:endParaRPr lang="en-US" sz="1100" dirty="0"/>
          </a:p>
        </p:txBody>
      </p:sp>
      <p:sp>
        <p:nvSpPr>
          <p:cNvPr id="16" name="Shape 14"/>
          <p:cNvSpPr/>
          <p:nvPr/>
        </p:nvSpPr>
        <p:spPr>
          <a:xfrm>
            <a:off x="2286000" y="2697480"/>
            <a:ext cx="2468880" cy="1508760"/>
          </a:xfrm>
          <a:prstGeom prst="roundRect">
            <a:avLst>
              <a:gd name="adj" fmla="val 6061"/>
            </a:avLst>
          </a:prstGeom>
          <a:solidFill>
            <a:schemeClr val="tx1"/>
          </a:solidFill>
          <a:ln w="12700">
            <a:solidFill>
              <a:schemeClr val="tx1"/>
            </a:solidFill>
            <a:prstDash val="solid"/>
          </a:ln>
        </p:spPr>
      </p:sp>
      <p:sp>
        <p:nvSpPr>
          <p:cNvPr id="17" name="Text 15"/>
          <p:cNvSpPr txBox="1"/>
          <p:nvPr/>
        </p:nvSpPr>
        <p:spPr>
          <a:xfrm>
            <a:off x="2423160" y="2807208"/>
            <a:ext cx="2194560" cy="320040"/>
          </a:xfrm>
          <a:prstGeom prst="rect">
            <a:avLst/>
          </a:prstGeom>
          <a:noFill/>
          <a:ln/>
        </p:spPr>
        <p:txBody>
          <a:bodyPr wrap="square" lIns="0" tIns="0" rIns="0" bIns="0" rtlCol="0" anchor="t"/>
          <a:lstStyle/>
          <a:p>
            <a:pPr indent="0" marL="0">
              <a:buNone/>
            </a:pPr>
            <a:r>
              <a:rPr lang="en-US" sz="1400" b="1" dirty="0">
                <a:solidFill>
                  <a:schemeClr val="bg1"/>
                </a:solidFill>
                <a:latin typeface="+mj-lt" pitchFamily="34" charset="0"/>
                <a:ea typeface="+mj-lt" pitchFamily="34" charset="-122"/>
                <a:cs typeface="+mj-lt" pitchFamily="34" charset="-120"/>
              </a:rPr>
              <a:t>Layer 2: forensic detector</a:t>
            </a:r>
            <a:endParaRPr lang="en-US" sz="1400" dirty="0"/>
          </a:p>
        </p:txBody>
      </p:sp>
      <p:sp>
        <p:nvSpPr>
          <p:cNvPr id="18" name="Text 16"/>
          <p:cNvSpPr txBox="1"/>
          <p:nvPr/>
        </p:nvSpPr>
        <p:spPr>
          <a:xfrm>
            <a:off x="2423160" y="3127248"/>
            <a:ext cx="2194560" cy="1005840"/>
          </a:xfrm>
          <a:prstGeom prst="rect">
            <a:avLst/>
          </a:prstGeom>
          <a:noFill/>
          <a:ln/>
        </p:spPr>
        <p:txBody>
          <a:bodyPr wrap="square" lIns="0" tIns="0" rIns="0" bIns="0" rtlCol="0" anchor="t"/>
          <a:lstStyle/>
          <a:p>
            <a:pPr indent="0" marL="0">
              <a:buNone/>
            </a:pPr>
            <a:r>
              <a:rPr lang="en-US" sz="1200" dirty="0">
                <a:solidFill>
                  <a:schemeClr val="bg2"/>
                </a:solidFill>
              </a:rPr>
              <a:t>Deep encoder + forensic features, trained with contrastive loss</a:t>
            </a:r>
            <a:endParaRPr lang="en-US" sz="1200" dirty="0"/>
          </a:p>
        </p:txBody>
      </p:sp>
      <p:sp>
        <p:nvSpPr>
          <p:cNvPr id="19" name="Shape 17"/>
          <p:cNvSpPr/>
          <p:nvPr/>
        </p:nvSpPr>
        <p:spPr>
          <a:xfrm>
            <a:off x="4754880" y="3429000"/>
            <a:ext cx="2011680" cy="0"/>
          </a:xfrm>
          <a:prstGeom prst="line">
            <a:avLst/>
          </a:prstGeom>
          <a:noFill/>
          <a:ln w="19050">
            <a:solidFill>
              <a:srgbClr val="4A5A66"/>
            </a:solidFill>
            <a:prstDash val="solid"/>
            <a:tailEnd type="triangle"/>
          </a:ln>
        </p:spPr>
      </p:sp>
      <p:sp>
        <p:nvSpPr>
          <p:cNvPr id="20" name="Shape 18"/>
          <p:cNvSpPr/>
          <p:nvPr/>
        </p:nvSpPr>
        <p:spPr>
          <a:xfrm>
            <a:off x="6766560" y="2788920"/>
            <a:ext cx="1920240" cy="1325880"/>
          </a:xfrm>
          <a:prstGeom prst="roundRect">
            <a:avLst>
              <a:gd name="adj" fmla="val 6897"/>
            </a:avLst>
          </a:prstGeom>
          <a:solidFill>
            <a:schemeClr val="bg2"/>
          </a:solidFill>
          <a:ln w="12700">
            <a:solidFill>
              <a:schemeClr val="bg2"/>
            </a:solidFill>
            <a:prstDash val="solid"/>
          </a:ln>
        </p:spPr>
      </p:sp>
      <p:sp>
        <p:nvSpPr>
          <p:cNvPr id="21" name="Text 19"/>
          <p:cNvSpPr txBox="1"/>
          <p:nvPr/>
        </p:nvSpPr>
        <p:spPr>
          <a:xfrm>
            <a:off x="6903720" y="2898648"/>
            <a:ext cx="1645920" cy="3200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Verdict</a:t>
            </a:r>
            <a:endParaRPr lang="en-US" sz="1400" dirty="0"/>
          </a:p>
        </p:txBody>
      </p:sp>
      <p:sp>
        <p:nvSpPr>
          <p:cNvPr id="22" name="Text 20"/>
          <p:cNvSpPr txBox="1"/>
          <p:nvPr/>
        </p:nvSpPr>
        <p:spPr>
          <a:xfrm>
            <a:off x="6903720" y="3218688"/>
            <a:ext cx="1645920" cy="822960"/>
          </a:xfrm>
          <a:prstGeom prst="rect">
            <a:avLst/>
          </a:prstGeom>
          <a:noFill/>
          <a:ln/>
        </p:spPr>
        <p:txBody>
          <a:bodyPr wrap="square" lIns="0" tIns="0" rIns="0" bIns="0" rtlCol="0" anchor="t"/>
          <a:lstStyle/>
          <a:p>
            <a:pPr indent="0" marL="0">
              <a:buNone/>
            </a:pPr>
            <a:r>
              <a:rPr lang="en-US" sz="1200" dirty="0">
                <a:solidFill>
                  <a:schemeClr val="tx2"/>
                </a:solidFill>
              </a:rPr>
              <a:t>Over 70% AI, under 30% human; in between goes to human review</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Layer 2: a specialised detector per content type</a:t>
            </a:r>
            <a:endParaRPr lang="en-US" sz="2600" dirty="0"/>
          </a:p>
        </p:txBody>
      </p:sp>
      <p:sp>
        <p:nvSpPr>
          <p:cNvPr id="3" name="Text 1"/>
          <p:cNvSpPr txBox="1"/>
          <p:nvPr/>
        </p:nvSpPr>
        <p:spPr>
          <a:xfrm>
            <a:off x="2423160" y="1051560"/>
            <a:ext cx="2377440" cy="274320"/>
          </a:xfrm>
          <a:prstGeom prst="rect">
            <a:avLst/>
          </a:prstGeom>
          <a:noFill/>
          <a:ln/>
        </p:spPr>
        <p:txBody>
          <a:bodyPr wrap="square" lIns="0" tIns="0" rIns="0" bIns="0" rtlCol="0" anchor="t"/>
          <a:lstStyle/>
          <a:p>
            <a:pPr indent="0" marL="0">
              <a:buNone/>
            </a:pPr>
            <a:r>
              <a:rPr lang="en-US" sz="1200" b="1" dirty="0">
                <a:solidFill>
                  <a:schemeClr val="tx2"/>
                </a:solidFill>
              </a:rPr>
              <a:t>Deep encoder</a:t>
            </a:r>
            <a:endParaRPr lang="en-US" sz="1200" dirty="0"/>
          </a:p>
        </p:txBody>
      </p:sp>
      <p:sp>
        <p:nvSpPr>
          <p:cNvPr id="4" name="Text 2"/>
          <p:cNvSpPr txBox="1"/>
          <p:nvPr/>
        </p:nvSpPr>
        <p:spPr>
          <a:xfrm>
            <a:off x="4937760" y="1051560"/>
            <a:ext cx="3749040" cy="274320"/>
          </a:xfrm>
          <a:prstGeom prst="rect">
            <a:avLst/>
          </a:prstGeom>
          <a:noFill/>
          <a:ln/>
        </p:spPr>
        <p:txBody>
          <a:bodyPr wrap="square" lIns="0" tIns="0" rIns="0" bIns="0" rtlCol="0" anchor="t"/>
          <a:lstStyle/>
          <a:p>
            <a:pPr indent="0" marL="0">
              <a:buNone/>
            </a:pPr>
            <a:r>
              <a:rPr lang="en-US" sz="1200" b="1" dirty="0">
                <a:solidFill>
                  <a:schemeClr val="tx2"/>
                </a:solidFill>
              </a:rPr>
              <a:t>Hand-crafted forensic signals (fused with the encoder)</a:t>
            </a:r>
            <a:endParaRPr lang="en-US" sz="1200" dirty="0"/>
          </a:p>
        </p:txBody>
      </p:sp>
      <p:sp>
        <p:nvSpPr>
          <p:cNvPr id="5" name="Shape 3"/>
          <p:cNvSpPr/>
          <p:nvPr/>
        </p:nvSpPr>
        <p:spPr>
          <a:xfrm>
            <a:off x="457200" y="1371600"/>
            <a:ext cx="457200" cy="45720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566928" y="1481328"/>
            <a:ext cx="237744" cy="237744"/>
          </a:xfrm>
          <a:prstGeom prst="rect">
            <a:avLst/>
          </a:prstGeom>
        </p:spPr>
      </p:pic>
      <p:sp>
        <p:nvSpPr>
          <p:cNvPr id="7" name="Text 4"/>
          <p:cNvSpPr txBox="1"/>
          <p:nvPr/>
        </p:nvSpPr>
        <p:spPr>
          <a:xfrm>
            <a:off x="1051560" y="1371600"/>
            <a:ext cx="128016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Essays</a:t>
            </a:r>
            <a:endParaRPr lang="en-US" sz="1600" dirty="0"/>
          </a:p>
        </p:txBody>
      </p:sp>
      <p:sp>
        <p:nvSpPr>
          <p:cNvPr id="8" name="Text 5"/>
          <p:cNvSpPr txBox="1"/>
          <p:nvPr/>
        </p:nvSpPr>
        <p:spPr>
          <a:xfrm>
            <a:off x="2423160" y="1371600"/>
            <a:ext cx="2377440" cy="548640"/>
          </a:xfrm>
          <a:prstGeom prst="rect">
            <a:avLst/>
          </a:prstGeom>
          <a:noFill/>
          <a:ln/>
        </p:spPr>
        <p:txBody>
          <a:bodyPr wrap="square" lIns="0" tIns="0" rIns="0" bIns="0" rtlCol="0" anchor="ctr"/>
          <a:lstStyle/>
          <a:p>
            <a:pPr indent="0" marL="0">
              <a:buNone/>
            </a:pPr>
            <a:r>
              <a:rPr lang="en-US" sz="1300" dirty="0">
                <a:solidFill>
                  <a:schemeClr val="tx1"/>
                </a:solidFill>
              </a:rPr>
              <a:t>BERT (bert-base-uncased)</a:t>
            </a:r>
            <a:endParaRPr lang="en-US" sz="1300" dirty="0"/>
          </a:p>
        </p:txBody>
      </p:sp>
      <p:sp>
        <p:nvSpPr>
          <p:cNvPr id="9" name="Text 6"/>
          <p:cNvSpPr txBox="1"/>
          <p:nvPr/>
        </p:nvSpPr>
        <p:spPr>
          <a:xfrm>
            <a:off x="4937760" y="1371600"/>
            <a:ext cx="3749040" cy="640080"/>
          </a:xfrm>
          <a:prstGeom prst="rect">
            <a:avLst/>
          </a:prstGeom>
          <a:noFill/>
          <a:ln/>
        </p:spPr>
        <p:txBody>
          <a:bodyPr wrap="square" lIns="0" tIns="0" rIns="0" bIns="0" rtlCol="0" anchor="ctr"/>
          <a:lstStyle/>
          <a:p>
            <a:pPr indent="0" marL="0">
              <a:buNone/>
            </a:pPr>
            <a:r>
              <a:rPr lang="en-US" sz="1200" dirty="0">
                <a:solidFill>
                  <a:schemeClr val="tx2"/>
                </a:solidFill>
              </a:rPr>
              <a:t>Perplexity and its spread under DistilGPT-2, sentence burstiness, vocabulary richness</a:t>
            </a:r>
            <a:endParaRPr lang="en-US" sz="1200" dirty="0"/>
          </a:p>
        </p:txBody>
      </p:sp>
      <p:sp>
        <p:nvSpPr>
          <p:cNvPr id="10" name="Shape 7"/>
          <p:cNvSpPr/>
          <p:nvPr/>
        </p:nvSpPr>
        <p:spPr>
          <a:xfrm>
            <a:off x="457200" y="2194560"/>
            <a:ext cx="457200" cy="4572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566928" y="2304288"/>
            <a:ext cx="237744" cy="237744"/>
          </a:xfrm>
          <a:prstGeom prst="rect">
            <a:avLst/>
          </a:prstGeom>
        </p:spPr>
      </p:pic>
      <p:sp>
        <p:nvSpPr>
          <p:cNvPr id="12" name="Text 8"/>
          <p:cNvSpPr txBox="1"/>
          <p:nvPr/>
        </p:nvSpPr>
        <p:spPr>
          <a:xfrm>
            <a:off x="1051560" y="2194560"/>
            <a:ext cx="128016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Code</a:t>
            </a:r>
            <a:endParaRPr lang="en-US" sz="1600" dirty="0"/>
          </a:p>
        </p:txBody>
      </p:sp>
      <p:sp>
        <p:nvSpPr>
          <p:cNvPr id="13" name="Text 9"/>
          <p:cNvSpPr txBox="1"/>
          <p:nvPr/>
        </p:nvSpPr>
        <p:spPr>
          <a:xfrm>
            <a:off x="2423160" y="2194560"/>
            <a:ext cx="2377440" cy="548640"/>
          </a:xfrm>
          <a:prstGeom prst="rect">
            <a:avLst/>
          </a:prstGeom>
          <a:noFill/>
          <a:ln/>
        </p:spPr>
        <p:txBody>
          <a:bodyPr wrap="square" lIns="0" tIns="0" rIns="0" bIns="0" rtlCol="0" anchor="ctr"/>
          <a:lstStyle/>
          <a:p>
            <a:pPr indent="0" marL="0">
              <a:buNone/>
            </a:pPr>
            <a:r>
              <a:rPr lang="en-US" sz="1300" dirty="0">
                <a:solidFill>
                  <a:schemeClr val="tx1"/>
                </a:solidFill>
              </a:rPr>
              <a:t>CodeBERT</a:t>
            </a:r>
            <a:endParaRPr lang="en-US" sz="1300" dirty="0"/>
          </a:p>
        </p:txBody>
      </p:sp>
      <p:sp>
        <p:nvSpPr>
          <p:cNvPr id="14" name="Text 10"/>
          <p:cNvSpPr txBox="1"/>
          <p:nvPr/>
        </p:nvSpPr>
        <p:spPr>
          <a:xfrm>
            <a:off x="4937760" y="2194560"/>
            <a:ext cx="3749040" cy="640080"/>
          </a:xfrm>
          <a:prstGeom prst="rect">
            <a:avLst/>
          </a:prstGeom>
          <a:noFill/>
          <a:ln/>
        </p:spPr>
        <p:txBody>
          <a:bodyPr wrap="square" lIns="0" tIns="0" rIns="0" bIns="0" rtlCol="0" anchor="ctr"/>
          <a:lstStyle/>
          <a:p>
            <a:pPr indent="0" marL="0">
              <a:buNone/>
            </a:pPr>
            <a:r>
              <a:rPr lang="en-US" sz="1200" dirty="0">
                <a:solidFill>
                  <a:schemeClr val="tx2"/>
                </a:solidFill>
              </a:rPr>
              <a:t>Syntax-tree depth and node mix, function length, identifier style, comment ratio</a:t>
            </a:r>
            <a:endParaRPr lang="en-US" sz="1200" dirty="0"/>
          </a:p>
        </p:txBody>
      </p:sp>
      <p:sp>
        <p:nvSpPr>
          <p:cNvPr id="15" name="Shape 11"/>
          <p:cNvSpPr/>
          <p:nvPr/>
        </p:nvSpPr>
        <p:spPr>
          <a:xfrm>
            <a:off x="457200" y="3017520"/>
            <a:ext cx="457200" cy="45720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566928" y="3127248"/>
            <a:ext cx="237744" cy="237744"/>
          </a:xfrm>
          <a:prstGeom prst="rect">
            <a:avLst/>
          </a:prstGeom>
        </p:spPr>
      </p:pic>
      <p:sp>
        <p:nvSpPr>
          <p:cNvPr id="17" name="Text 12"/>
          <p:cNvSpPr txBox="1"/>
          <p:nvPr/>
        </p:nvSpPr>
        <p:spPr>
          <a:xfrm>
            <a:off x="1051560" y="3017520"/>
            <a:ext cx="128016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Images</a:t>
            </a:r>
            <a:endParaRPr lang="en-US" sz="1600" dirty="0"/>
          </a:p>
        </p:txBody>
      </p:sp>
      <p:sp>
        <p:nvSpPr>
          <p:cNvPr id="18" name="Text 13"/>
          <p:cNvSpPr txBox="1"/>
          <p:nvPr/>
        </p:nvSpPr>
        <p:spPr>
          <a:xfrm>
            <a:off x="2423160" y="3017520"/>
            <a:ext cx="2377440" cy="548640"/>
          </a:xfrm>
          <a:prstGeom prst="rect">
            <a:avLst/>
          </a:prstGeom>
          <a:noFill/>
          <a:ln/>
        </p:spPr>
        <p:txBody>
          <a:bodyPr wrap="square" lIns="0" tIns="0" rIns="0" bIns="0" rtlCol="0" anchor="ctr"/>
          <a:lstStyle/>
          <a:p>
            <a:pPr indent="0" marL="0">
              <a:buNone/>
            </a:pPr>
            <a:r>
              <a:rPr lang="en-US" sz="1300" dirty="0">
                <a:solidFill>
                  <a:schemeClr val="tx1"/>
                </a:solidFill>
              </a:rPr>
              <a:t>Vision Transformer + frequency CNN (224 px)</a:t>
            </a:r>
            <a:endParaRPr lang="en-US" sz="1300" dirty="0"/>
          </a:p>
        </p:txBody>
      </p:sp>
      <p:sp>
        <p:nvSpPr>
          <p:cNvPr id="19" name="Text 14"/>
          <p:cNvSpPr txBox="1"/>
          <p:nvPr/>
        </p:nvSpPr>
        <p:spPr>
          <a:xfrm>
            <a:off x="4937760" y="3017520"/>
            <a:ext cx="3749040" cy="640080"/>
          </a:xfrm>
          <a:prstGeom prst="rect">
            <a:avLst/>
          </a:prstGeom>
          <a:noFill/>
          <a:ln/>
        </p:spPr>
        <p:txBody>
          <a:bodyPr wrap="square" lIns="0" tIns="0" rIns="0" bIns="0" rtlCol="0" anchor="ctr"/>
          <a:lstStyle/>
          <a:p>
            <a:pPr indent="0" marL="0">
              <a:buNone/>
            </a:pPr>
            <a:r>
              <a:rPr lang="en-US" sz="1200" dirty="0">
                <a:solidFill>
                  <a:schemeClr val="tx2"/>
                </a:solidFill>
              </a:rPr>
              <a:t>2-D FFT spectrum branch, radial power profile, noise-residual statistics</a:t>
            </a:r>
            <a:endParaRPr lang="en-US" sz="1200" dirty="0"/>
          </a:p>
        </p:txBody>
      </p:sp>
      <p:sp>
        <p:nvSpPr>
          <p:cNvPr id="20" name="Shape 15"/>
          <p:cNvSpPr/>
          <p:nvPr/>
        </p:nvSpPr>
        <p:spPr>
          <a:xfrm>
            <a:off x="457200" y="3840480"/>
            <a:ext cx="457200" cy="45720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566928" y="3950208"/>
            <a:ext cx="237744" cy="237744"/>
          </a:xfrm>
          <a:prstGeom prst="rect">
            <a:avLst/>
          </a:prstGeom>
        </p:spPr>
      </p:pic>
      <p:sp>
        <p:nvSpPr>
          <p:cNvPr id="22" name="Text 16"/>
          <p:cNvSpPr txBox="1"/>
          <p:nvPr/>
        </p:nvSpPr>
        <p:spPr>
          <a:xfrm>
            <a:off x="1051560" y="3840480"/>
            <a:ext cx="128016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Voice</a:t>
            </a:r>
            <a:endParaRPr lang="en-US" sz="1600" dirty="0"/>
          </a:p>
        </p:txBody>
      </p:sp>
      <p:sp>
        <p:nvSpPr>
          <p:cNvPr id="23" name="Text 17"/>
          <p:cNvSpPr txBox="1"/>
          <p:nvPr/>
        </p:nvSpPr>
        <p:spPr>
          <a:xfrm>
            <a:off x="2423160" y="3840480"/>
            <a:ext cx="2377440" cy="548640"/>
          </a:xfrm>
          <a:prstGeom prst="rect">
            <a:avLst/>
          </a:prstGeom>
          <a:noFill/>
          <a:ln/>
        </p:spPr>
        <p:txBody>
          <a:bodyPr wrap="square" lIns="0" tIns="0" rIns="0" bIns="0" rtlCol="0" anchor="ctr"/>
          <a:lstStyle/>
          <a:p>
            <a:pPr indent="0" marL="0">
              <a:buNone/>
            </a:pPr>
            <a:r>
              <a:rPr lang="en-US" sz="1300" dirty="0">
                <a:solidFill>
                  <a:schemeClr val="tx1"/>
                </a:solidFill>
              </a:rPr>
              <a:t>wav2vec 2.0 (frozen) + linear head</a:t>
            </a:r>
            <a:endParaRPr lang="en-US" sz="1300" dirty="0"/>
          </a:p>
        </p:txBody>
      </p:sp>
      <p:sp>
        <p:nvSpPr>
          <p:cNvPr id="24" name="Text 18"/>
          <p:cNvSpPr txBox="1"/>
          <p:nvPr/>
        </p:nvSpPr>
        <p:spPr>
          <a:xfrm>
            <a:off x="4937760" y="3840480"/>
            <a:ext cx="3749040" cy="640080"/>
          </a:xfrm>
          <a:prstGeom prst="rect">
            <a:avLst/>
          </a:prstGeom>
          <a:noFill/>
          <a:ln/>
        </p:spPr>
        <p:txBody>
          <a:bodyPr wrap="square" lIns="0" tIns="0" rIns="0" bIns="0" rtlCol="0" anchor="ctr"/>
          <a:lstStyle/>
          <a:p>
            <a:pPr indent="0" marL="0">
              <a:buNone/>
            </a:pPr>
            <a:r>
              <a:rPr lang="en-US" sz="1200" dirty="0">
                <a:solidFill>
                  <a:schemeClr val="tx2"/>
                </a:solidFill>
              </a:rPr>
              <a:t>Compared with a spectrogram CNN using MFCC, spectral-shape and phase cues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Contrastive learning: what all AI content shares</a:t>
            </a:r>
            <a:endParaRPr lang="en-US" sz="2600" dirty="0"/>
          </a:p>
        </p:txBody>
      </p:sp>
      <p:sp>
        <p:nvSpPr>
          <p:cNvPr id="3" name="Text 1"/>
          <p:cNvSpPr txBox="1"/>
          <p:nvPr/>
        </p:nvSpPr>
        <p:spPr>
          <a:xfrm>
            <a:off x="457200" y="1188720"/>
            <a:ext cx="4206240" cy="329184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Every detector is trained with two losses on the fused embedding:</a:t>
            </a:r>
            <a:endParaRPr lang="en-US" sz="1400" dirty="0"/>
          </a:p>
          <a:p>
            <a:pPr marL="342900" indent="-342900">
              <a:spcAft>
                <a:spcPts val="800"/>
              </a:spcAft>
              <a:buSzPct val="100000"/>
              <a:buChar char="•"/>
            </a:pPr>
            <a:r>
              <a:rPr lang="en-US" sz="1400" dirty="0">
                <a:solidFill>
                  <a:schemeClr val="tx1"/>
                </a:solidFill>
              </a:rPr>
              <a:t>Binary cross-entropy for the human/AI decision</a:t>
            </a:r>
            <a:endParaRPr lang="en-US" sz="1400" dirty="0"/>
          </a:p>
          <a:p>
            <a:pPr marL="342900" indent="-342900">
              <a:spcAft>
                <a:spcPts val="800"/>
              </a:spcAft>
              <a:buSzPct val="100000"/>
              <a:buChar char="•"/>
            </a:pPr>
            <a:r>
              <a:rPr lang="en-US" sz="1400" dirty="0">
                <a:solidFill>
                  <a:schemeClr val="tx1"/>
                </a:solidFill>
              </a:rPr>
              <a:t>Supervised contrastive loss (SupCon, temperature 0.1) that pulls same-label samples together and pushes human and AI apart</a:t>
            </a:r>
            <a:endParaRPr lang="en-US" sz="1400" dirty="0"/>
          </a:p>
          <a:p>
            <a:pPr indent="0" marL="0">
              <a:spcAft>
                <a:spcPts val="800"/>
              </a:spcAft>
              <a:buNone/>
            </a:pPr>
            <a:r>
              <a:rPr lang="en-US" sz="1400" b="1" dirty="0">
                <a:solidFill>
                  <a:schemeClr val="tx1"/>
                </a:solidFill>
              </a:rPr>
              <a:t>L = BCE + 0.5 × SupCon</a:t>
            </a:r>
            <a:endParaRPr lang="en-US" sz="1400" dirty="0"/>
          </a:p>
          <a:p>
            <a:pPr indent="0" marL="0">
              <a:spcAft>
                <a:spcPts val="800"/>
              </a:spcAft>
              <a:buNone/>
            </a:pPr>
            <a:r>
              <a:rPr lang="en-US" sz="1400" dirty="0">
                <a:solidFill>
                  <a:schemeClr val="tx1"/>
                </a:solidFill>
              </a:rPr>
              <a:t>Why: the model is rewarded for a shared notion of 'AI-made' across all generators in a batch, not one generator's quirks, which should help on unseen models.</a:t>
            </a:r>
            <a:endParaRPr lang="en-US" sz="1400" dirty="0"/>
          </a:p>
        </p:txBody>
      </p:sp>
      <p:sp>
        <p:nvSpPr>
          <p:cNvPr id="4" name="Shape 2"/>
          <p:cNvSpPr/>
          <p:nvPr/>
        </p:nvSpPr>
        <p:spPr>
          <a:xfrm>
            <a:off x="5029200" y="1188720"/>
            <a:ext cx="3657600" cy="3200400"/>
          </a:xfrm>
          <a:prstGeom prst="roundRect">
            <a:avLst>
              <a:gd name="adj" fmla="val 3429"/>
            </a:avLst>
          </a:prstGeom>
          <a:solidFill>
            <a:schemeClr val="bg2"/>
          </a:solidFill>
          <a:ln w="12700">
            <a:solidFill>
              <a:schemeClr val="bg2"/>
            </a:solidFill>
            <a:prstDash val="solid"/>
          </a:ln>
        </p:spPr>
      </p:sp>
      <p:sp>
        <p:nvSpPr>
          <p:cNvPr id="5" name="Shape 3"/>
          <p:cNvSpPr/>
          <p:nvPr/>
        </p:nvSpPr>
        <p:spPr>
          <a:xfrm>
            <a:off x="5486400" y="1737360"/>
            <a:ext cx="201168" cy="201168"/>
          </a:xfrm>
          <a:prstGeom prst="ellipse">
            <a:avLst/>
          </a:prstGeom>
          <a:solidFill>
            <a:schemeClr val="accent2"/>
          </a:solidFill>
          <a:ln w="12700">
            <a:solidFill>
              <a:schemeClr val="accent2"/>
            </a:solidFill>
            <a:prstDash val="solid"/>
          </a:ln>
        </p:spPr>
      </p:sp>
      <p:sp>
        <p:nvSpPr>
          <p:cNvPr id="6" name="Shape 4"/>
          <p:cNvSpPr/>
          <p:nvPr/>
        </p:nvSpPr>
        <p:spPr>
          <a:xfrm>
            <a:off x="5852160" y="2103120"/>
            <a:ext cx="201168" cy="201168"/>
          </a:xfrm>
          <a:prstGeom prst="ellipse">
            <a:avLst/>
          </a:prstGeom>
          <a:solidFill>
            <a:schemeClr val="accent2"/>
          </a:solidFill>
          <a:ln w="12700">
            <a:solidFill>
              <a:schemeClr val="accent2"/>
            </a:solidFill>
            <a:prstDash val="solid"/>
          </a:ln>
        </p:spPr>
      </p:sp>
      <p:sp>
        <p:nvSpPr>
          <p:cNvPr id="7" name="Shape 5"/>
          <p:cNvSpPr/>
          <p:nvPr/>
        </p:nvSpPr>
        <p:spPr>
          <a:xfrm>
            <a:off x="5394960" y="2377440"/>
            <a:ext cx="201168" cy="201168"/>
          </a:xfrm>
          <a:prstGeom prst="ellipse">
            <a:avLst/>
          </a:prstGeom>
          <a:solidFill>
            <a:schemeClr val="accent2"/>
          </a:solidFill>
          <a:ln w="12700">
            <a:solidFill>
              <a:schemeClr val="accent2"/>
            </a:solidFill>
            <a:prstDash val="solid"/>
          </a:ln>
        </p:spPr>
      </p:sp>
      <p:sp>
        <p:nvSpPr>
          <p:cNvPr id="8" name="Shape 6"/>
          <p:cNvSpPr/>
          <p:nvPr/>
        </p:nvSpPr>
        <p:spPr>
          <a:xfrm>
            <a:off x="5943600" y="1600200"/>
            <a:ext cx="201168" cy="201168"/>
          </a:xfrm>
          <a:prstGeom prst="ellipse">
            <a:avLst/>
          </a:prstGeom>
          <a:solidFill>
            <a:schemeClr val="accent2"/>
          </a:solidFill>
          <a:ln w="12700">
            <a:solidFill>
              <a:schemeClr val="accent2"/>
            </a:solidFill>
            <a:prstDash val="solid"/>
          </a:ln>
        </p:spPr>
      </p:sp>
      <p:sp>
        <p:nvSpPr>
          <p:cNvPr id="9" name="Shape 7"/>
          <p:cNvSpPr/>
          <p:nvPr/>
        </p:nvSpPr>
        <p:spPr>
          <a:xfrm>
            <a:off x="5669280" y="2651760"/>
            <a:ext cx="201168" cy="201168"/>
          </a:xfrm>
          <a:prstGeom prst="ellipse">
            <a:avLst/>
          </a:prstGeom>
          <a:solidFill>
            <a:schemeClr val="accent2"/>
          </a:solidFill>
          <a:ln w="12700">
            <a:solidFill>
              <a:schemeClr val="accent2"/>
            </a:solidFill>
            <a:prstDash val="solid"/>
          </a:ln>
        </p:spPr>
      </p:sp>
      <p:sp>
        <p:nvSpPr>
          <p:cNvPr id="10" name="Shape 8"/>
          <p:cNvSpPr/>
          <p:nvPr/>
        </p:nvSpPr>
        <p:spPr>
          <a:xfrm>
            <a:off x="6126480" y="2331720"/>
            <a:ext cx="201168" cy="201168"/>
          </a:xfrm>
          <a:prstGeom prst="ellipse">
            <a:avLst/>
          </a:prstGeom>
          <a:solidFill>
            <a:schemeClr val="accent2"/>
          </a:solidFill>
          <a:ln w="12700">
            <a:solidFill>
              <a:schemeClr val="accent2"/>
            </a:solidFill>
            <a:prstDash val="solid"/>
          </a:ln>
        </p:spPr>
      </p:sp>
      <p:sp>
        <p:nvSpPr>
          <p:cNvPr id="11" name="Shape 9"/>
          <p:cNvSpPr/>
          <p:nvPr/>
        </p:nvSpPr>
        <p:spPr>
          <a:xfrm>
            <a:off x="7406640" y="2651760"/>
            <a:ext cx="201168" cy="201168"/>
          </a:xfrm>
          <a:prstGeom prst="ellipse">
            <a:avLst/>
          </a:prstGeom>
          <a:solidFill>
            <a:schemeClr val="accent3"/>
          </a:solidFill>
          <a:ln w="12700">
            <a:solidFill>
              <a:schemeClr val="accent3"/>
            </a:solidFill>
            <a:prstDash val="solid"/>
          </a:ln>
        </p:spPr>
      </p:sp>
      <p:sp>
        <p:nvSpPr>
          <p:cNvPr id="12" name="Shape 10"/>
          <p:cNvSpPr/>
          <p:nvPr/>
        </p:nvSpPr>
        <p:spPr>
          <a:xfrm>
            <a:off x="7772400" y="3017520"/>
            <a:ext cx="201168" cy="201168"/>
          </a:xfrm>
          <a:prstGeom prst="ellipse">
            <a:avLst/>
          </a:prstGeom>
          <a:solidFill>
            <a:schemeClr val="accent3"/>
          </a:solidFill>
          <a:ln w="12700">
            <a:solidFill>
              <a:schemeClr val="accent3"/>
            </a:solidFill>
            <a:prstDash val="solid"/>
          </a:ln>
        </p:spPr>
      </p:sp>
      <p:sp>
        <p:nvSpPr>
          <p:cNvPr id="13" name="Shape 11"/>
          <p:cNvSpPr/>
          <p:nvPr/>
        </p:nvSpPr>
        <p:spPr>
          <a:xfrm>
            <a:off x="7315200" y="3291840"/>
            <a:ext cx="201168" cy="201168"/>
          </a:xfrm>
          <a:prstGeom prst="ellipse">
            <a:avLst/>
          </a:prstGeom>
          <a:solidFill>
            <a:schemeClr val="accent3"/>
          </a:solidFill>
          <a:ln w="12700">
            <a:solidFill>
              <a:schemeClr val="accent3"/>
            </a:solidFill>
            <a:prstDash val="solid"/>
          </a:ln>
        </p:spPr>
      </p:sp>
      <p:sp>
        <p:nvSpPr>
          <p:cNvPr id="14" name="Shape 12"/>
          <p:cNvSpPr/>
          <p:nvPr/>
        </p:nvSpPr>
        <p:spPr>
          <a:xfrm>
            <a:off x="7863840" y="2514600"/>
            <a:ext cx="201168" cy="201168"/>
          </a:xfrm>
          <a:prstGeom prst="ellipse">
            <a:avLst/>
          </a:prstGeom>
          <a:solidFill>
            <a:schemeClr val="accent3"/>
          </a:solidFill>
          <a:ln w="12700">
            <a:solidFill>
              <a:schemeClr val="accent3"/>
            </a:solidFill>
            <a:prstDash val="solid"/>
          </a:ln>
        </p:spPr>
      </p:sp>
      <p:sp>
        <p:nvSpPr>
          <p:cNvPr id="15" name="Shape 13"/>
          <p:cNvSpPr/>
          <p:nvPr/>
        </p:nvSpPr>
        <p:spPr>
          <a:xfrm>
            <a:off x="7589520" y="3566160"/>
            <a:ext cx="201168" cy="201168"/>
          </a:xfrm>
          <a:prstGeom prst="ellipse">
            <a:avLst/>
          </a:prstGeom>
          <a:solidFill>
            <a:schemeClr val="accent3"/>
          </a:solidFill>
          <a:ln w="12700">
            <a:solidFill>
              <a:schemeClr val="accent3"/>
            </a:solidFill>
            <a:prstDash val="solid"/>
          </a:ln>
        </p:spPr>
      </p:sp>
      <p:sp>
        <p:nvSpPr>
          <p:cNvPr id="16" name="Shape 14"/>
          <p:cNvSpPr/>
          <p:nvPr/>
        </p:nvSpPr>
        <p:spPr>
          <a:xfrm>
            <a:off x="8046720" y="3246120"/>
            <a:ext cx="201168" cy="201168"/>
          </a:xfrm>
          <a:prstGeom prst="ellipse">
            <a:avLst/>
          </a:prstGeom>
          <a:solidFill>
            <a:schemeClr val="accent3"/>
          </a:solidFill>
          <a:ln w="12700">
            <a:solidFill>
              <a:schemeClr val="accent3"/>
            </a:solidFill>
            <a:prstDash val="solid"/>
          </a:ln>
        </p:spPr>
      </p:sp>
      <p:sp>
        <p:nvSpPr>
          <p:cNvPr id="17" name="Text 15"/>
          <p:cNvSpPr txBox="1"/>
          <p:nvPr/>
        </p:nvSpPr>
        <p:spPr>
          <a:xfrm>
            <a:off x="5303520" y="3063240"/>
            <a:ext cx="1371600" cy="274320"/>
          </a:xfrm>
          <a:prstGeom prst="rect">
            <a:avLst/>
          </a:prstGeom>
          <a:noFill/>
          <a:ln/>
        </p:spPr>
        <p:txBody>
          <a:bodyPr wrap="square" lIns="0" tIns="0" rIns="0" bIns="0" rtlCol="0" anchor="t"/>
          <a:lstStyle/>
          <a:p>
            <a:pPr indent="0" marL="0">
              <a:buNone/>
            </a:pPr>
            <a:r>
              <a:rPr lang="en-US" sz="1300" b="1" dirty="0">
                <a:solidFill>
                  <a:schemeClr val="accent2"/>
                </a:solidFill>
              </a:rPr>
              <a:t>Human</a:t>
            </a:r>
            <a:endParaRPr lang="en-US" sz="1300" dirty="0"/>
          </a:p>
        </p:txBody>
      </p:sp>
      <p:sp>
        <p:nvSpPr>
          <p:cNvPr id="18" name="Text 16"/>
          <p:cNvSpPr txBox="1"/>
          <p:nvPr/>
        </p:nvSpPr>
        <p:spPr>
          <a:xfrm>
            <a:off x="6949440" y="2057400"/>
            <a:ext cx="1645920" cy="274320"/>
          </a:xfrm>
          <a:prstGeom prst="rect">
            <a:avLst/>
          </a:prstGeom>
          <a:noFill/>
          <a:ln/>
        </p:spPr>
        <p:txBody>
          <a:bodyPr wrap="square" lIns="0" tIns="0" rIns="0" bIns="0" rtlCol="0" anchor="t"/>
          <a:lstStyle/>
          <a:p>
            <a:pPr indent="0" marL="0">
              <a:buNone/>
            </a:pPr>
            <a:r>
              <a:rPr lang="en-US" sz="1300" b="1" dirty="0">
                <a:solidFill>
                  <a:schemeClr val="accent3"/>
                </a:solidFill>
              </a:rPr>
              <a:t>AI (any generator)</a:t>
            </a:r>
            <a:endParaRPr lang="en-US" sz="1300" dirty="0"/>
          </a:p>
        </p:txBody>
      </p:sp>
      <p:sp>
        <p:nvSpPr>
          <p:cNvPr id="19" name="Text 17"/>
          <p:cNvSpPr txBox="1"/>
          <p:nvPr/>
        </p:nvSpPr>
        <p:spPr>
          <a:xfrm>
            <a:off x="5212080" y="4023360"/>
            <a:ext cx="3291840" cy="274320"/>
          </a:xfrm>
          <a:prstGeom prst="rect">
            <a:avLst/>
          </a:prstGeom>
          <a:noFill/>
          <a:ln/>
        </p:spPr>
        <p:txBody>
          <a:bodyPr wrap="square" lIns="0" tIns="0" rIns="0" bIns="0" rtlCol="0" anchor="t"/>
          <a:lstStyle/>
          <a:p>
            <a:pPr indent="0" marL="0">
              <a:buNone/>
            </a:pPr>
            <a:r>
              <a:rPr lang="en-US" sz="1100" dirty="0">
                <a:solidFill>
                  <a:schemeClr val="tx2"/>
                </a:solidFill>
              </a:rPr>
              <a:t>Learned embedding space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Real public benchmarks, leakage-free splits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05840"/>
                <a:gridCol w="1600200"/>
                <a:gridCol w="2514600"/>
                <a:gridCol w="1463040"/>
                <a:gridCol w="1645920"/>
              </a:tblGrid>
              <a:tr h="411480">
                <a:tc>
                  <a:txBody>
                    <a:bodyPr/>
                    <a:lstStyle/>
                    <a:p>
                      <a:pPr indent="0" marL="0">
                        <a:buNone/>
                      </a:pPr>
                      <a:r>
                        <a:rPr lang="en-US" sz="1200" b="1" dirty="0">
                          <a:solidFill>
                            <a:schemeClr val="bg1"/>
                          </a:solidFill>
                          <a:latin typeface="+mn-lt" pitchFamily="34" charset="0"/>
                          <a:ea typeface="+mn-lt" pitchFamily="34" charset="-122"/>
                          <a:cs typeface="+mn-lt" pitchFamily="34" charset="-120"/>
                        </a:rPr>
                        <a:t>Content</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Dataset</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Human vs AI</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Train / test</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Leakage control</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chemeClr val="tx1"/>
                    </a:solidFill>
                  </a:tcPr>
                </a:tc>
              </a:tr>
              <a:tr h="411480">
                <a:tc>
                  <a:txBody>
                    <a:bodyPr/>
                    <a:lstStyle/>
                    <a:p>
                      <a:pPr indent="0" marL="0">
                        <a:buNone/>
                      </a:pPr>
                      <a:r>
                        <a:rPr lang="en-US" sz="1200" dirty="0">
                          <a:solidFill>
                            <a:schemeClr val="tx1"/>
                          </a:solidFill>
                          <a:latin typeface="+mn-lt" pitchFamily="34" charset="0"/>
                          <a:ea typeface="+mn-lt" pitchFamily="34" charset="-122"/>
                          <a:cs typeface="+mn-lt" pitchFamily="34" charset="-120"/>
                        </a:rPr>
                        <a:t>Essays</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HC3 + MAGE</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Humans vs ChatGPT and 27 LLMs</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16,000 / 1,000 + 1,000</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By question; OPT held out</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r>
              <a:tr h="411480">
                <a:tc>
                  <a:txBody>
                    <a:bodyPr/>
                    <a:lstStyle/>
                    <a:p>
                      <a:pPr indent="0" marL="0">
                        <a:buNone/>
                      </a:pPr>
                      <a:r>
                        <a:rPr lang="en-US" sz="1200" dirty="0">
                          <a:solidFill>
                            <a:schemeClr val="tx1"/>
                          </a:solidFill>
                          <a:latin typeface="+mn-lt" pitchFamily="34" charset="0"/>
                          <a:ea typeface="+mn-lt" pitchFamily="34" charset="-122"/>
                          <a:cs typeface="+mn-lt" pitchFamily="34" charset="-120"/>
                        </a:rPr>
                        <a:t>Code</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CoDET-M4 (Python)</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GitHub, LeetCode, Codeforces vs 5 LLMs</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12,000 / 1,000</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Official split</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r>
              <a:tr h="411480">
                <a:tc>
                  <a:txBody>
                    <a:bodyPr/>
                    <a:lstStyle/>
                    <a:p>
                      <a:pPr indent="0" marL="0">
                        <a:buNone/>
                      </a:pPr>
                      <a:r>
                        <a:rPr lang="en-US" sz="1200" dirty="0">
                          <a:solidFill>
                            <a:schemeClr val="tx1"/>
                          </a:solidFill>
                          <a:latin typeface="+mn-lt" pitchFamily="34" charset="0"/>
                          <a:ea typeface="+mn-lt" pitchFamily="34" charset="-122"/>
                          <a:cs typeface="+mn-lt" pitchFamily="34" charset="-120"/>
                        </a:rPr>
                        <a:t>Images</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GenImage + CIFAKE</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Real photos vs 7 modern generators</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14,000 / 3,500</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Official split</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r>
              <a:tr h="411480">
                <a:tc>
                  <a:txBody>
                    <a:bodyPr/>
                    <a:lstStyle/>
                    <a:p>
                      <a:pPr indent="0" marL="0">
                        <a:buNone/>
                      </a:pPr>
                      <a:r>
                        <a:rPr lang="en-US" sz="1200" dirty="0">
                          <a:solidFill>
                            <a:schemeClr val="tx1"/>
                          </a:solidFill>
                          <a:latin typeface="+mn-lt" pitchFamily="34" charset="0"/>
                          <a:ea typeface="+mn-lt" pitchFamily="34" charset="-122"/>
                          <a:cs typeface="+mn-lt" pitchFamily="34" charset="-120"/>
                        </a:rPr>
                        <a:t>Voice</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ASVspoof 2019 + modern TTS</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Bona fide vs 2019 attacks, ElevenLabs, Polly...</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4,339 / 1,527</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By speaker / recording</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r>
            </a:tbl>
          </a:graphicData>
        </a:graphic>
      </p:graphicFrame>
      <p:sp>
        <p:nvSpPr>
          <p:cNvPr id="4" name="Text 1"/>
          <p:cNvSpPr txBox="1"/>
          <p:nvPr/>
        </p:nvSpPr>
        <p:spPr>
          <a:xfrm>
            <a:off x="457200" y="3794760"/>
            <a:ext cx="8229600" cy="731520"/>
          </a:xfrm>
          <a:prstGeom prst="rect">
            <a:avLst/>
          </a:prstGeom>
          <a:noFill/>
          <a:ln/>
        </p:spPr>
        <p:txBody>
          <a:bodyPr wrap="square" lIns="0" tIns="0" rIns="0" bIns="0" rtlCol="0" anchor="t"/>
          <a:lstStyle/>
          <a:p>
            <a:pPr indent="0" marL="0">
              <a:buNone/>
            </a:pPr>
            <a:r>
              <a:rPr lang="en-US" sz="1300" dirty="0">
                <a:solidFill>
                  <a:schemeClr val="tx2"/>
                </a:solidFill>
              </a:rPr>
              <a:t>All subsets are class-balanced. 10% of each training set is held out for validation. These are deliberately small subsets so the full pipeline trains on one laptop; full-scale training is future work.</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Training built to avoid over- and underfitting</a:t>
            </a:r>
            <a:endParaRPr lang="en-US" sz="2600" dirty="0"/>
          </a:p>
        </p:txBody>
      </p:sp>
      <p:sp>
        <p:nvSpPr>
          <p:cNvPr id="3" name="Shape 1"/>
          <p:cNvSpPr/>
          <p:nvPr/>
        </p:nvSpPr>
        <p:spPr>
          <a:xfrm>
            <a:off x="457200" y="1234440"/>
            <a:ext cx="457200" cy="457200"/>
          </a:xfrm>
          <a:prstGeom prst="ellipse">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566928" y="1344168"/>
            <a:ext cx="237744" cy="237744"/>
          </a:xfrm>
          <a:prstGeom prst="rect">
            <a:avLst/>
          </a:prstGeom>
        </p:spPr>
      </p:pic>
      <p:sp>
        <p:nvSpPr>
          <p:cNvPr id="5" name="Text 2"/>
          <p:cNvSpPr txBox="1"/>
          <p:nvPr/>
        </p:nvSpPr>
        <p:spPr>
          <a:xfrm>
            <a:off x="1097280" y="1234440"/>
            <a:ext cx="3383280" cy="36576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Validation hold-out</a:t>
            </a:r>
            <a:endParaRPr lang="en-US" sz="1600" dirty="0"/>
          </a:p>
        </p:txBody>
      </p:sp>
      <p:sp>
        <p:nvSpPr>
          <p:cNvPr id="6" name="Text 3"/>
          <p:cNvSpPr txBox="1"/>
          <p:nvPr/>
        </p:nvSpPr>
        <p:spPr>
          <a:xfrm>
            <a:off x="1097280" y="1618488"/>
            <a:ext cx="3383280" cy="731520"/>
          </a:xfrm>
          <a:prstGeom prst="rect">
            <a:avLst/>
          </a:prstGeom>
          <a:noFill/>
          <a:ln/>
        </p:spPr>
        <p:txBody>
          <a:bodyPr wrap="square" lIns="0" tIns="0" rIns="0" bIns="0" rtlCol="0" anchor="t"/>
          <a:lstStyle/>
          <a:p>
            <a:pPr indent="0" marL="0">
              <a:buNone/>
            </a:pPr>
            <a:r>
              <a:rPr lang="en-US" sz="1300" dirty="0">
                <a:solidFill>
                  <a:schemeClr val="tx2"/>
                </a:solidFill>
              </a:rPr>
              <a:t>10% of each training set, never trained on</a:t>
            </a:r>
            <a:endParaRPr lang="en-US" sz="1300" dirty="0"/>
          </a:p>
        </p:txBody>
      </p:sp>
      <p:sp>
        <p:nvSpPr>
          <p:cNvPr id="7" name="Shape 4"/>
          <p:cNvSpPr/>
          <p:nvPr/>
        </p:nvSpPr>
        <p:spPr>
          <a:xfrm>
            <a:off x="4663440" y="1234440"/>
            <a:ext cx="457200" cy="457200"/>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4773168" y="1344168"/>
            <a:ext cx="237744" cy="237744"/>
          </a:xfrm>
          <a:prstGeom prst="rect">
            <a:avLst/>
          </a:prstGeom>
        </p:spPr>
      </p:pic>
      <p:sp>
        <p:nvSpPr>
          <p:cNvPr id="9" name="Text 5"/>
          <p:cNvSpPr txBox="1"/>
          <p:nvPr/>
        </p:nvSpPr>
        <p:spPr>
          <a:xfrm>
            <a:off x="5303520" y="1234440"/>
            <a:ext cx="3383280" cy="36576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Early stopping</a:t>
            </a:r>
            <a:endParaRPr lang="en-US" sz="1600" dirty="0"/>
          </a:p>
        </p:txBody>
      </p:sp>
      <p:sp>
        <p:nvSpPr>
          <p:cNvPr id="10" name="Text 6"/>
          <p:cNvSpPr txBox="1"/>
          <p:nvPr/>
        </p:nvSpPr>
        <p:spPr>
          <a:xfrm>
            <a:off x="5303520" y="1618488"/>
            <a:ext cx="3383280" cy="731520"/>
          </a:xfrm>
          <a:prstGeom prst="rect">
            <a:avLst/>
          </a:prstGeom>
          <a:noFill/>
          <a:ln/>
        </p:spPr>
        <p:txBody>
          <a:bodyPr wrap="square" lIns="0" tIns="0" rIns="0" bIns="0" rtlCol="0" anchor="t"/>
          <a:lstStyle/>
          <a:p>
            <a:pPr indent="0" marL="0">
              <a:buNone/>
            </a:pPr>
            <a:r>
              <a:rPr lang="en-US" sz="1300" dirty="0">
                <a:solidFill>
                  <a:schemeClr val="tx2"/>
                </a:solidFill>
              </a:rPr>
              <a:t>Stop after 2 epochs without validation improvement; keep the best epoch</a:t>
            </a:r>
            <a:endParaRPr lang="en-US" sz="1300" dirty="0"/>
          </a:p>
        </p:txBody>
      </p:sp>
      <p:sp>
        <p:nvSpPr>
          <p:cNvPr id="11" name="Shape 7"/>
          <p:cNvSpPr/>
          <p:nvPr/>
        </p:nvSpPr>
        <p:spPr>
          <a:xfrm>
            <a:off x="457200" y="2651760"/>
            <a:ext cx="457200" cy="457200"/>
          </a:xfrm>
          <a:prstGeom prst="ellipse">
            <a:avLst/>
          </a:prstGeom>
          <a:solidFill>
            <a:schemeClr val="accent2"/>
          </a:solidFill>
          <a:ln w="12700">
            <a:solidFill>
              <a:schemeClr val="accent2"/>
            </a:solidFill>
            <a:prstDash val="solid"/>
          </a:ln>
        </p:spPr>
      </p:sp>
      <p:pic>
        <p:nvPicPr>
          <p:cNvPr id="12" name="Image 2" descr="preencoded.png">    </p:cNvPr>
          <p:cNvPicPr>
            <a:picLocks noChangeAspect="1"/>
          </p:cNvPicPr>
          <p:nvPr/>
        </p:nvPicPr>
        <p:blipFill>
          <a:blip r:embed="rId3"/>
          <a:stretch>
            <a:fillRect/>
          </a:stretch>
        </p:blipFill>
        <p:spPr>
          <a:xfrm>
            <a:off x="566928" y="2761488"/>
            <a:ext cx="237744" cy="237744"/>
          </a:xfrm>
          <a:prstGeom prst="rect">
            <a:avLst/>
          </a:prstGeom>
        </p:spPr>
      </p:pic>
      <p:sp>
        <p:nvSpPr>
          <p:cNvPr id="13" name="Text 8"/>
          <p:cNvSpPr txBox="1"/>
          <p:nvPr/>
        </p:nvSpPr>
        <p:spPr>
          <a:xfrm>
            <a:off x="1097280" y="2651760"/>
            <a:ext cx="3383280" cy="36576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Regularisation</a:t>
            </a:r>
            <a:endParaRPr lang="en-US" sz="1600" dirty="0"/>
          </a:p>
        </p:txBody>
      </p:sp>
      <p:sp>
        <p:nvSpPr>
          <p:cNvPr id="14" name="Text 9"/>
          <p:cNvSpPr txBox="1"/>
          <p:nvPr/>
        </p:nvSpPr>
        <p:spPr>
          <a:xfrm>
            <a:off x="1097280" y="3035808"/>
            <a:ext cx="3383280" cy="731520"/>
          </a:xfrm>
          <a:prstGeom prst="rect">
            <a:avLst/>
          </a:prstGeom>
          <a:noFill/>
          <a:ln/>
        </p:spPr>
        <p:txBody>
          <a:bodyPr wrap="square" lIns="0" tIns="0" rIns="0" bIns="0" rtlCol="0" anchor="t"/>
          <a:lstStyle/>
          <a:p>
            <a:pPr indent="0" marL="0">
              <a:buNone/>
            </a:pPr>
            <a:r>
              <a:rPr lang="en-US" sz="1300" dirty="0">
                <a:solidFill>
                  <a:schemeClr val="tx2"/>
                </a:solidFill>
              </a:rPr>
              <a:t>Dropout, weight decay, SpecAugment for voice, gradient checkpointing</a:t>
            </a:r>
            <a:endParaRPr lang="en-US" sz="1300" dirty="0"/>
          </a:p>
        </p:txBody>
      </p:sp>
      <p:sp>
        <p:nvSpPr>
          <p:cNvPr id="15" name="Shape 10"/>
          <p:cNvSpPr/>
          <p:nvPr/>
        </p:nvSpPr>
        <p:spPr>
          <a:xfrm>
            <a:off x="4663440" y="2651760"/>
            <a:ext cx="457200" cy="457200"/>
          </a:xfrm>
          <a:prstGeom prst="ellipse">
            <a:avLst/>
          </a:prstGeom>
          <a:solidFill>
            <a:schemeClr val="accent2"/>
          </a:solidFill>
          <a:ln w="12700">
            <a:solidFill>
              <a:schemeClr val="accent2"/>
            </a:solidFill>
            <a:prstDash val="solid"/>
          </a:ln>
        </p:spPr>
      </p:sp>
      <p:pic>
        <p:nvPicPr>
          <p:cNvPr id="16" name="Image 3" descr="preencoded.png">    </p:cNvPr>
          <p:cNvPicPr>
            <a:picLocks noChangeAspect="1"/>
          </p:cNvPicPr>
          <p:nvPr/>
        </p:nvPicPr>
        <p:blipFill>
          <a:blip r:embed="rId4"/>
          <a:stretch>
            <a:fillRect/>
          </a:stretch>
        </p:blipFill>
        <p:spPr>
          <a:xfrm>
            <a:off x="4773168" y="2761488"/>
            <a:ext cx="237744" cy="237744"/>
          </a:xfrm>
          <a:prstGeom prst="rect">
            <a:avLst/>
          </a:prstGeom>
        </p:spPr>
      </p:pic>
      <p:sp>
        <p:nvSpPr>
          <p:cNvPr id="17" name="Text 11"/>
          <p:cNvSpPr txBox="1"/>
          <p:nvPr/>
        </p:nvSpPr>
        <p:spPr>
          <a:xfrm>
            <a:off x="5303520" y="2651760"/>
            <a:ext cx="3383280" cy="36576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Shortcut removal</a:t>
            </a:r>
            <a:endParaRPr lang="en-US" sz="1600" dirty="0"/>
          </a:p>
        </p:txBody>
      </p:sp>
      <p:sp>
        <p:nvSpPr>
          <p:cNvPr id="18" name="Text 12"/>
          <p:cNvSpPr txBox="1"/>
          <p:nvPr/>
        </p:nvSpPr>
        <p:spPr>
          <a:xfrm>
            <a:off x="5303520" y="3035808"/>
            <a:ext cx="3383280" cy="731520"/>
          </a:xfrm>
          <a:prstGeom prst="rect">
            <a:avLst/>
          </a:prstGeom>
          <a:noFill/>
          <a:ln/>
        </p:spPr>
        <p:txBody>
          <a:bodyPr wrap="square" lIns="0" tIns="0" rIns="0" bIns="0" rtlCol="0" anchor="t"/>
          <a:lstStyle/>
          <a:p>
            <a:pPr indent="0" marL="0">
              <a:buNone/>
            </a:pPr>
            <a:r>
              <a:rPr lang="en-US" sz="1300" dirty="0">
                <a:solidFill>
                  <a:schemeClr val="tx2"/>
                </a:solidFill>
              </a:rPr>
              <a:t>HC3 spacing and \n escapes; ASVspoof silence; GenImage JPEG vs PNG</a:t>
            </a:r>
            <a:endParaRPr lang="en-US" sz="1300" dirty="0"/>
          </a:p>
        </p:txBody>
      </p:sp>
      <p:sp>
        <p:nvSpPr>
          <p:cNvPr id="19" name="Text 13"/>
          <p:cNvSpPr txBox="1"/>
          <p:nvPr/>
        </p:nvSpPr>
        <p:spPr>
          <a:xfrm>
            <a:off x="457200" y="4160520"/>
            <a:ext cx="8229600" cy="457200"/>
          </a:xfrm>
          <a:prstGeom prst="rect">
            <a:avLst/>
          </a:prstGeom>
          <a:noFill/>
          <a:ln/>
        </p:spPr>
        <p:txBody>
          <a:bodyPr wrap="square" lIns="0" tIns="0" rIns="0" bIns="0" rtlCol="0" anchor="t"/>
          <a:lstStyle/>
          <a:p>
            <a:pPr indent="0" marL="0">
              <a:buNone/>
            </a:pPr>
            <a:r>
              <a:rPr lang="en-US" sz="1200" dirty="0">
                <a:solidFill>
                  <a:schemeClr val="tx2"/>
                </a:solidFill>
              </a:rPr>
              <a:t>Hardware: Apple M4 laptop, 16 GB unified memory, PyTorch on the Metal GPU, every job capped at 3 GB by a memory watchdog.</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Results on held-out test data</a:t>
            </a:r>
            <a:endParaRPr lang="en-US" sz="2600" dirty="0"/>
          </a:p>
        </p:txBody>
      </p:sp>
      <p:graphicFrame>
        <p:nvGraphicFramePr>
          <p:cNvPr id="3" name="Chart 0" descr=""/>
          <p:cNvGraphicFramePr/>
          <p:nvPr/>
        </p:nvGraphicFramePr>
        <p:xfrm>
          <a:off x="457200" y="1097280"/>
          <a:ext cx="493776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0" y="1188720"/>
          <a:ext cx="3017520" cy="914400"/>
        </p:xfrm>
        <a:graphic>
          <a:graphicData uri="http://schemas.openxmlformats.org/drawingml/2006/table">
            <a:tbl>
              <a:tblPr/>
              <a:tblGrid>
                <a:gridCol w="960120"/>
                <a:gridCol w="731520"/>
                <a:gridCol w="731520"/>
                <a:gridCol w="594360"/>
              </a:tblGrid>
              <a:tr h="365760">
                <a:tc>
                  <a:txBody>
                    <a:bodyPr/>
                    <a:lstStyle/>
                    <a:p>
                      <a:pPr indent="0" marL="0">
                        <a:buNone/>
                      </a:pPr>
                      <a:r>
                        <a:rPr lang="en-US" sz="1200" b="1" dirty="0">
                          <a:solidFill>
                            <a:schemeClr val="bg1"/>
                          </a:solidFill>
                          <a:latin typeface="+mn-lt" pitchFamily="34" charset="0"/>
                          <a:ea typeface="+mn-lt" pitchFamily="34" charset="-122"/>
                          <a:cs typeface="+mn-lt" pitchFamily="34" charset="-120"/>
                        </a:rPr>
                        <a:t>Content</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Prec.</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Recall</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Test n</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solidFill>
                      <a:schemeClr val="tx1"/>
                    </a:solidFill>
                  </a:tcPr>
                </a:tc>
              </a:tr>
              <a:tr h="365760">
                <a:tc>
                  <a:txBody>
                    <a:bodyPr/>
                    <a:lstStyle/>
                    <a:p>
                      <a:pPr indent="0" marL="0">
                        <a:buNone/>
                      </a:pPr>
                      <a:r>
                        <a:rPr lang="en-US" sz="1200" dirty="0">
                          <a:solidFill>
                            <a:schemeClr val="tx1"/>
                          </a:solidFill>
                          <a:latin typeface="+mn-lt" pitchFamily="34" charset="0"/>
                          <a:ea typeface="+mn-lt" pitchFamily="34" charset="-122"/>
                          <a:cs typeface="+mn-lt" pitchFamily="34" charset="-120"/>
                        </a:rPr>
                        <a:t>Essays</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97.1%</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99.6%</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1000</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mn-lt" pitchFamily="34" charset="0"/>
                          <a:ea typeface="+mn-lt" pitchFamily="34" charset="-122"/>
                          <a:cs typeface="+mn-lt" pitchFamily="34" charset="-120"/>
                        </a:rPr>
                        <a:t>Code</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96.5%</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98.8%</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1000</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mn-lt" pitchFamily="34" charset="0"/>
                          <a:ea typeface="+mn-lt" pitchFamily="34" charset="-122"/>
                          <a:cs typeface="+mn-lt" pitchFamily="34" charset="-120"/>
                        </a:rPr>
                        <a:t>Images</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90.8%</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90.5%</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3500</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mn-lt" pitchFamily="34" charset="0"/>
                          <a:ea typeface="+mn-lt" pitchFamily="34" charset="-122"/>
                          <a:cs typeface="+mn-lt" pitchFamily="34" charset="-120"/>
                        </a:rPr>
                        <a:t>Voice</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96.2%</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93.6%</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1527</a:t>
                      </a:r>
                      <a:endParaRPr lang="en-US" sz="1200" dirty="0">
                        <a:latin typeface="+mn-lt" charset="0"/>
                        <a:ea typeface="+mn-lt" charset="0"/>
                        <a:cs typeface="+mn-lt" charset="0"/>
                      </a:endParaRPr>
                    </a:p>
                  </a:txBody>
                  <a:tcPr marL="91440" marR="91440" marT="45720" marB="45720" anchor="ctr">
                    <a:lnL w="6350" cap="flat" cmpd="sng" algn="ctr">
                      <a:solidFill>
                        <a:srgbClr val="D5DDE1"/>
                      </a:solidFill>
                      <a:prstDash val="solid"/>
                      <a:round/>
                      <a:headEnd type="none" w="med" len="med"/>
                      <a:tailEnd type="none" w="med" len="med"/>
                    </a:lnL>
                    <a:lnR w="6350" cap="flat" cmpd="sng" algn="ctr">
                      <a:solidFill>
                        <a:srgbClr val="D5DDE1"/>
                      </a:solidFill>
                      <a:prstDash val="solid"/>
                      <a:round/>
                      <a:headEnd type="none" w="med" len="med"/>
                      <a:tailEnd type="none" w="med" len="med"/>
                    </a:lnR>
                    <a:lnT w="6350" cap="flat" cmpd="sng" algn="ctr">
                      <a:solidFill>
                        <a:srgbClr val="D5DDE1"/>
                      </a:solidFill>
                      <a:prstDash val="solid"/>
                      <a:round/>
                      <a:headEnd type="none" w="med" len="med"/>
                      <a:tailEnd type="none" w="med" len="med"/>
                    </a:lnT>
                    <a:lnB w="6350" cap="flat" cmpd="sng" algn="ctr">
                      <a:solidFill>
                        <a:srgbClr val="D5DDE1"/>
                      </a:solidFill>
                      <a:prstDash val="solid"/>
                      <a:round/>
                      <a:headEnd type="none" w="med" len="med"/>
                      <a:tailEnd type="none" w="med" len="med"/>
                    </a:lnB>
                  </a:tcPr>
                </a:tc>
              </a:tr>
            </a:tbl>
          </a:graphicData>
        </a:graphic>
      </p:graphicFrame>
      <p:sp>
        <p:nvSpPr>
          <p:cNvPr id="5" name="Text 1"/>
          <p:cNvSpPr txBox="1"/>
          <p:nvPr/>
        </p:nvSpPr>
        <p:spPr>
          <a:xfrm>
            <a:off x="5669280" y="3291840"/>
            <a:ext cx="3017520" cy="1097280"/>
          </a:xfrm>
          <a:prstGeom prst="rect">
            <a:avLst/>
          </a:prstGeom>
          <a:noFill/>
          <a:ln/>
        </p:spPr>
        <p:txBody>
          <a:bodyPr wrap="square" lIns="0" tIns="0" rIns="0" bIns="0" rtlCol="0" anchor="t"/>
          <a:lstStyle/>
          <a:p>
            <a:pPr indent="0" marL="0">
              <a:buNone/>
            </a:pPr>
            <a:r>
              <a:rPr lang="en-US" sz="1200" dirty="0">
                <a:solidFill>
                  <a:schemeClr val="tx2"/>
                </a:solidFill>
              </a:rPr>
              <a:t>Baseline results on small subsets; full datasets and longer training are expected to improve them.</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Built for today's generators, not 2019's</a:t>
            </a:r>
            <a:endParaRPr lang="en-US" sz="2600" dirty="0"/>
          </a:p>
        </p:txBody>
      </p:sp>
      <p:graphicFrame>
        <p:nvGraphicFramePr>
          <p:cNvPr id="3" name="Chart 0" descr=""/>
          <p:cNvGraphicFramePr/>
          <p:nvPr/>
        </p:nvGraphicFramePr>
        <p:xfrm>
          <a:off x="457200" y="1051560"/>
          <a:ext cx="393192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51560"/>
          <a:ext cx="4023360" cy="32004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100" dirty="0">
                <a:solidFill>
                  <a:schemeClr val="tx2"/>
                </a:solidFill>
              </a:rPr>
              <a:t>A 2019-trained voice model flags real speech and misses modern clones (31.9%); adding modern TTS fixes it. With Midjourney removed from training, 56.4% of Midjourney images are still caught (vs 84.8%).</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Beating simple methods on the same data</a:t>
            </a:r>
            <a:endParaRPr lang="en-US" sz="2600" dirty="0"/>
          </a:p>
        </p:txBody>
      </p:sp>
      <p:graphicFrame>
        <p:nvGraphicFramePr>
          <p:cNvPr id="3" name="Chart 0" descr=""/>
          <p:cNvGraphicFramePr/>
          <p:nvPr/>
        </p:nvGraphicFramePr>
        <p:xfrm>
          <a:off x="45720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852160" y="1234440"/>
            <a:ext cx="2834640" cy="3200400"/>
          </a:xfrm>
          <a:prstGeom prst="rect">
            <a:avLst/>
          </a:prstGeom>
          <a:noFill/>
          <a:ln/>
        </p:spPr>
        <p:txBody>
          <a:bodyPr wrap="square" lIns="0" tIns="0" rIns="0" bIns="0" rtlCol="0" anchor="t"/>
          <a:lstStyle/>
          <a:p>
            <a:pPr indent="0" marL="0">
              <a:spcAft>
                <a:spcPts val="800"/>
              </a:spcAft>
              <a:buNone/>
            </a:pPr>
            <a:r>
              <a:rPr lang="en-US" sz="1300" dirty="0">
                <a:solidFill>
                  <a:schemeClr val="tx2"/>
                </a:solidFill>
              </a:rPr>
              <a:t>Simple methods: perplexity threshold, TF-IDF + logistic regression, forensic features + logistic regression</a:t>
            </a:r>
            <a:endParaRPr lang="en-US" sz="1300" dirty="0"/>
          </a:p>
          <a:p>
            <a:pPr marL="342900" indent="-342900">
              <a:spcAft>
                <a:spcPts val="800"/>
              </a:spcAft>
              <a:buSzPct val="100000"/>
              <a:buChar char="•"/>
            </a:pPr>
            <a:r>
              <a:rPr lang="en-US" sz="1300" b="1" dirty="0">
                <a:solidFill>
                  <a:schemeClr val="tx1"/>
                </a:solidFill>
              </a:rPr>
              <a:t>Essays: -0.1 pts (±1.1), within noise</a:t>
            </a:r>
            <a:endParaRPr lang="en-US" sz="1300" dirty="0"/>
          </a:p>
          <a:p>
            <a:pPr marL="342900" indent="-342900">
              <a:spcAft>
                <a:spcPts val="800"/>
              </a:spcAft>
              <a:buSzPct val="100000"/>
              <a:buChar char="•"/>
            </a:pPr>
            <a:r>
              <a:rPr lang="en-US" sz="1300" b="1" dirty="0">
                <a:solidFill>
                  <a:schemeClr val="tx1"/>
                </a:solidFill>
              </a:rPr>
              <a:t>Code: +4.5 pts (±1.8)</a:t>
            </a:r>
            <a:endParaRPr lang="en-US" sz="1300" dirty="0"/>
          </a:p>
          <a:p>
            <a:pPr marL="342900" indent="-342900">
              <a:spcAft>
                <a:spcPts val="800"/>
              </a:spcAft>
              <a:buSzPct val="100000"/>
              <a:buChar char="•"/>
            </a:pPr>
            <a:r>
              <a:rPr lang="en-US" sz="1300" b="1" dirty="0">
                <a:solidFill>
                  <a:schemeClr val="tx1"/>
                </a:solidFill>
              </a:rPr>
              <a:t>Images: +14.4 pts (±1.8)</a:t>
            </a:r>
            <a:endParaRPr lang="en-US" sz="1300" dirty="0"/>
          </a:p>
          <a:p>
            <a:pPr marL="342900" indent="-342900">
              <a:spcAft>
                <a:spcPts val="800"/>
              </a:spcAft>
              <a:buSzPct val="100000"/>
              <a:buChar char="•"/>
            </a:pPr>
            <a:r>
              <a:rPr lang="en-US" sz="1300" b="1" dirty="0">
                <a:solidFill>
                  <a:schemeClr val="tx1"/>
                </a:solidFill>
              </a:rPr>
              <a:t>Voice: +20.3 pts (±2.9)</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Compared with detectors people actually use</a:t>
            </a:r>
            <a:endParaRPr lang="en-US" sz="2600" dirty="0"/>
          </a:p>
        </p:txBody>
      </p:sp>
      <p:graphicFrame>
        <p:nvGraphicFramePr>
          <p:cNvPr id="3" name="Chart 0" descr=""/>
          <p:cNvGraphicFramePr/>
          <p:nvPr/>
        </p:nvGraphicFramePr>
        <p:xfrm>
          <a:off x="457200" y="1051560"/>
          <a:ext cx="269748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3246120" y="1051560"/>
          <a:ext cx="2697480" cy="283464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2" descr=""/>
          <p:cNvGraphicFramePr/>
          <p:nvPr/>
        </p:nvGraphicFramePr>
        <p:xfrm>
          <a:off x="6035040" y="1051560"/>
          <a:ext cx="2697480" cy="2834640"/>
        </p:xfrm>
        <a:graphic xmlns:a="http://schemas.openxmlformats.org/drawingml/2006/main">
          <a:graphicData uri="http://schemas.openxmlformats.org/drawingml/2006/chart">
            <c:chart xmlns:c="http://schemas.openxmlformats.org/drawingml/2006/chart" r:id="rId3"/>
          </a:graphicData>
        </a:graphic>
      </p:graphicFrame>
      <p:sp>
        <p:nvSpPr>
          <p:cNvPr id="6" name="Text 1"/>
          <p:cNvSpPr txBox="1"/>
          <p:nvPr/>
        </p:nvSpPr>
        <p:spPr>
          <a:xfrm>
            <a:off x="457200" y="3977640"/>
            <a:ext cx="8229600" cy="685800"/>
          </a:xfrm>
          <a:prstGeom prst="rect">
            <a:avLst/>
          </a:prstGeom>
          <a:noFill/>
          <a:ln/>
        </p:spPr>
        <p:txBody>
          <a:bodyPr wrap="square" lIns="0" tIns="0" rIns="0" bIns="0" rtlCol="0" anchor="t"/>
          <a:lstStyle/>
          <a:p>
            <a:pPr indent="0" marL="0">
              <a:buNone/>
            </a:pPr>
            <a:r>
              <a:rPr lang="en-US" sz="1100" dirty="0">
                <a:solidFill>
                  <a:schemeClr val="tx2"/>
                </a:solidFill>
              </a:rPr>
              <a:t>* trained on that same benchmark (home advantage). Commercial tools are closed: Weber-Wulff et al. (2023) found 14 tools incl. Turnitin "neither accurate nor reliable"; RAID (Dugan et al., ACL 2024) found detectors "easily fooled" by unseen models and simple attacks.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Today's AI content: ours vs public detectors</a:t>
            </a:r>
            <a:endParaRPr lang="en-US" sz="2600" dirty="0"/>
          </a:p>
        </p:txBody>
      </p:sp>
      <p:graphicFrame>
        <p:nvGraphicFramePr>
          <p:cNvPr id="3" name="Chart 0" descr=""/>
          <p:cNvGraphicFramePr/>
          <p:nvPr/>
        </p:nvGraphicFramePr>
        <p:xfrm>
          <a:off x="457200" y="1051560"/>
          <a:ext cx="269748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3246120" y="1051560"/>
          <a:ext cx="2697480" cy="292608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2" descr=""/>
          <p:cNvGraphicFramePr/>
          <p:nvPr/>
        </p:nvGraphicFramePr>
        <p:xfrm>
          <a:off x="6035040" y="1051560"/>
          <a:ext cx="2697480" cy="2926080"/>
        </p:xfrm>
        <a:graphic xmlns:a="http://schemas.openxmlformats.org/drawingml/2006/main">
          <a:graphicData uri="http://schemas.openxmlformats.org/drawingml/2006/chart">
            <c:chart xmlns:c="http://schemas.openxmlformats.org/drawingml/2006/chart" r:id="rId3"/>
          </a:graphicData>
        </a:graphic>
      </p:graphicFrame>
      <p:sp>
        <p:nvSpPr>
          <p:cNvPr id="6" name="Text 1"/>
          <p:cNvSpPr txBox="1"/>
          <p:nvPr/>
        </p:nvSpPr>
        <p:spPr>
          <a:xfrm>
            <a:off x="457200" y="4069080"/>
            <a:ext cx="8229600" cy="548640"/>
          </a:xfrm>
          <a:prstGeom prst="rect">
            <a:avLst/>
          </a:prstGeom>
          <a:noFill/>
          <a:ln/>
        </p:spPr>
        <p:txBody>
          <a:bodyPr wrap="square" lIns="0" tIns="0" rIns="0" bIns="0" rtlCol="0" anchor="t"/>
          <a:lstStyle/>
          <a:p>
            <a:pPr indent="0" marL="0">
              <a:buNone/>
            </a:pPr>
            <a:r>
              <a:rPr lang="en-US" sz="1100" dirty="0">
                <a:solidFill>
                  <a:schemeClr val="tx2"/>
                </a:solidFill>
              </a:rPr>
              <a:t>None of these test sets was used to train any public model, so this is the fair comparison. Every model is run unchanged; essays use our calibrated diverse-data model, images and voice our modern-data models.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Honest check: no detector is 100% accurate</a:t>
            </a:r>
            <a:endParaRPr lang="en-US" sz="2600" dirty="0"/>
          </a:p>
        </p:txBody>
      </p:sp>
      <p:graphicFrame>
        <p:nvGraphicFramePr>
          <p:cNvPr id="3" name="Chart 0" descr=""/>
          <p:cNvGraphicFramePr/>
          <p:nvPr/>
        </p:nvGraphicFramePr>
        <p:xfrm>
          <a:off x="457200" y="109728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35040" y="1234440"/>
            <a:ext cx="2651760" cy="329184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Tested without retraining on 1000 MAGE texts: 14 domains, 27 AI models never seen in training.</a:t>
            </a:r>
            <a:endParaRPr lang="en-US" sz="1300" dirty="0"/>
          </a:p>
          <a:p>
            <a:pPr indent="0" marL="0">
              <a:spcAft>
                <a:spcPts val="1000"/>
              </a:spcAft>
              <a:buNone/>
            </a:pPr>
            <a:r>
              <a:rPr lang="en-US" sz="1300" b="1" dirty="0">
                <a:solidFill>
                  <a:schemeClr val="tx1"/>
                </a:solidFill>
              </a:rPr>
              <a:t>Every method drops. Benchmark accuracy overstates real-world accuracy, which is why we report this gap, keep an 'uncertain' band, and put verifiable provenance first.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The fix: train on many AI models, not one</a:t>
            </a:r>
            <a:endParaRPr lang="en-US" sz="2600" dirty="0"/>
          </a:p>
        </p:txBody>
      </p:sp>
      <p:graphicFrame>
        <p:nvGraphicFramePr>
          <p:cNvPr id="3" name="Chart 0" descr=""/>
          <p:cNvGraphicFramePr/>
          <p:nvPr/>
        </p:nvGraphicFramePr>
        <p:xfrm>
          <a:off x="457200" y="109728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35040" y="1234440"/>
            <a:ext cx="2651760" cy="3291840"/>
          </a:xfrm>
          <a:prstGeom prst="rect">
            <a:avLst/>
          </a:prstGeom>
          <a:noFill/>
          <a:ln/>
        </p:spPr>
        <p:txBody>
          <a:bodyPr wrap="square" lIns="0" tIns="0" rIns="0" bIns="0" rtlCol="0" anchor="t"/>
          <a:lstStyle/>
          <a:p>
            <a:pPr indent="0" marL="0">
              <a:spcAft>
                <a:spcPts val="1000"/>
              </a:spcAft>
              <a:buNone/>
            </a:pPr>
            <a:r>
              <a:rPr lang="en-US" sz="1300" b="1" dirty="0">
                <a:solidFill>
                  <a:schemeClr val="tx1"/>
                </a:solidFill>
              </a:rPr>
              <a:t>MAGE accuracy: 57.1% → 85.3%</a:t>
            </a:r>
            <a:endParaRPr lang="en-US" sz="1300" dirty="0"/>
          </a:p>
          <a:p>
            <a:pPr indent="0" marL="0">
              <a:spcAft>
                <a:spcPts val="1000"/>
              </a:spcAft>
              <a:buNone/>
            </a:pPr>
            <a:r>
              <a:rPr lang="en-US" sz="1300" dirty="0">
                <a:solidFill>
                  <a:schemeClr val="tx1"/>
                </a:solidFill>
              </a:rPr>
              <a:t>HC3 accuracy stays 97.2%; 86.2% of human texts still cleared</a:t>
            </a:r>
            <a:endParaRPr lang="en-US" sz="1300" dirty="0"/>
          </a:p>
          <a:p>
            <a:pPr indent="0" marL="0">
              <a:spcAft>
                <a:spcPts val="1000"/>
              </a:spcAft>
              <a:buNone/>
            </a:pPr>
            <a:r>
              <a:rPr lang="en-US" sz="1300" dirty="0">
                <a:solidFill>
                  <a:schemeClr val="tx2"/>
                </a:solidFill>
              </a:rPr>
              <a:t>Threshold calibrated on MAGE validation data (0.85), never on test.</a:t>
            </a:r>
            <a:endParaRPr lang="en-US" sz="1300" dirty="0"/>
          </a:p>
          <a:p>
            <a:pPr indent="0" marL="0">
              <a:spcAft>
                <a:spcPts val="1000"/>
              </a:spcAft>
              <a:buNone/>
            </a:pPr>
            <a:r>
              <a:rPr lang="en-US" sz="1300" dirty="0">
                <a:solidFill>
                  <a:schemeClr val="tx2"/>
                </a:solidFill>
              </a:rPr>
              <a:t>OPT was never in training: its bar is a true unseen-generator result.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Does contrastive learning help?</a:t>
            </a:r>
            <a:endParaRPr lang="en-US" sz="2600" dirty="0"/>
          </a:p>
        </p:txBody>
      </p:sp>
      <p:graphicFrame>
        <p:nvGraphicFramePr>
          <p:cNvPr id="3" name="Chart 0" descr=""/>
          <p:cNvGraphicFramePr/>
          <p:nvPr/>
        </p:nvGraphicFramePr>
        <p:xfrm>
          <a:off x="45720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852160" y="1234440"/>
            <a:ext cx="283464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Essays: -0.6 pts (±1.0), within noise</a:t>
            </a:r>
            <a:endParaRPr lang="en-US" sz="1300" dirty="0"/>
          </a:p>
          <a:p>
            <a:pPr marL="342900" indent="-342900">
              <a:spcAft>
                <a:spcPts val="800"/>
              </a:spcAft>
              <a:buSzPct val="100000"/>
              <a:buChar char="•"/>
            </a:pPr>
            <a:r>
              <a:rPr lang="en-US" sz="1300" dirty="0">
                <a:solidFill>
                  <a:schemeClr val="tx1"/>
                </a:solidFill>
              </a:rPr>
              <a:t>Code (4k): +1.1 pts (±1.9), within noise</a:t>
            </a:r>
            <a:endParaRPr lang="en-US" sz="1300" dirty="0"/>
          </a:p>
          <a:p>
            <a:pPr marL="342900" indent="-342900">
              <a:spcAft>
                <a:spcPts val="800"/>
              </a:spcAft>
              <a:buSzPct val="100000"/>
              <a:buChar char="•"/>
            </a:pPr>
            <a:r>
              <a:rPr lang="en-US" sz="1300" dirty="0">
                <a:solidFill>
                  <a:schemeClr val="tx1"/>
                </a:solidFill>
              </a:rPr>
              <a:t>Images (CIFAKE): +0.1 pts (±1.0), within noise</a:t>
            </a:r>
            <a:endParaRPr lang="en-US" sz="1300" dirty="0"/>
          </a:p>
          <a:p>
            <a:pPr marL="342900" indent="-342900">
              <a:spcAft>
                <a:spcPts val="800"/>
              </a:spcAft>
              <a:buSzPct val="100000"/>
              <a:buChar char="•"/>
            </a:pPr>
            <a:r>
              <a:rPr lang="en-US" sz="1300" dirty="0">
                <a:solidFill>
                  <a:schemeClr val="tx1"/>
                </a:solidFill>
              </a:rPr>
              <a:t>Voice (CNN): +0.7 pts (±3.5), within noise</a:t>
            </a:r>
            <a:endParaRPr lang="en-US" sz="1300" dirty="0"/>
          </a:p>
        </p:txBody>
      </p:sp>
      <p:sp>
        <p:nvSpPr>
          <p:cNvPr id="5" name="Text 2"/>
          <p:cNvSpPr txBox="1"/>
          <p:nvPr/>
        </p:nvSpPr>
        <p:spPr>
          <a:xfrm>
            <a:off x="5852160" y="4343400"/>
            <a:ext cx="2834640" cy="274320"/>
          </a:xfrm>
          <a:prstGeom prst="rect">
            <a:avLst/>
          </a:prstGeom>
          <a:noFill/>
          <a:ln/>
        </p:spPr>
        <p:txBody>
          <a:bodyPr wrap="square" lIns="0" tIns="0" rIns="0" bIns="0" rtlCol="0" anchor="t"/>
          <a:lstStyle/>
          <a:p>
            <a:pPr indent="0" marL="0">
              <a:buNone/>
            </a:pPr>
            <a:r>
              <a:rPr lang="en-US" sz="1100" dirty="0">
                <a:solidFill>
                  <a:schemeClr val="tx2"/>
                </a:solidFill>
              </a:rPr>
              <a:t>± is the 95% confidence interval of the difference.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It generalises: train and validation move together</a:t>
            </a:r>
            <a:endParaRPr lang="en-US" sz="2600" dirty="0"/>
          </a:p>
        </p:txBody>
      </p:sp>
      <p:sp>
        <p:nvSpPr>
          <p:cNvPr id="3" name="Text 1"/>
          <p:cNvSpPr txBox="1"/>
          <p:nvPr/>
        </p:nvSpPr>
        <p:spPr>
          <a:xfrm>
            <a:off x="457200" y="987552"/>
            <a:ext cx="4023360" cy="228600"/>
          </a:xfrm>
          <a:prstGeom prst="rect">
            <a:avLst/>
          </a:prstGeom>
          <a:noFill/>
          <a:ln/>
        </p:spPr>
        <p:txBody>
          <a:bodyPr wrap="square" lIns="0" tIns="0" rIns="0" bIns="0" rtlCol="0" anchor="t"/>
          <a:lstStyle/>
          <a:p>
            <a:pPr indent="0" marL="0">
              <a:buNone/>
            </a:pPr>
            <a:r>
              <a:rPr lang="en-US" sz="1200" b="1" dirty="0">
                <a:solidFill>
                  <a:schemeClr val="tx1"/>
                </a:solidFill>
                <a:latin typeface="+mj-lt" pitchFamily="34" charset="0"/>
                <a:ea typeface="+mj-lt" pitchFamily="34" charset="-122"/>
                <a:cs typeface="+mj-lt" pitchFamily="34" charset="-120"/>
              </a:rPr>
              <a:t>Essays</a:t>
            </a:r>
            <a:endParaRPr lang="en-US" sz="1200" dirty="0"/>
          </a:p>
        </p:txBody>
      </p:sp>
      <p:pic>
        <p:nvPicPr>
          <p:cNvPr id="4" name="Image 0" descr="/Users/sanatan/Documents/College/cs70x/CS756 Project-I/code/results/text/text_bert_supcon_curves.png">    </p:cNvPr>
          <p:cNvPicPr>
            <a:picLocks noChangeAspect="1"/>
          </p:cNvPicPr>
          <p:nvPr/>
        </p:nvPicPr>
        <p:blipFill>
          <a:blip r:embed="rId1"/>
          <a:stretch>
            <a:fillRect/>
          </a:stretch>
        </p:blipFill>
        <p:spPr>
          <a:xfrm>
            <a:off x="457200" y="1216152"/>
            <a:ext cx="3657600" cy="1463040"/>
          </a:xfrm>
          <a:prstGeom prst="rect">
            <a:avLst/>
          </a:prstGeom>
        </p:spPr>
      </p:pic>
      <p:sp>
        <p:nvSpPr>
          <p:cNvPr id="5" name="Text 2"/>
          <p:cNvSpPr txBox="1"/>
          <p:nvPr/>
        </p:nvSpPr>
        <p:spPr>
          <a:xfrm>
            <a:off x="4663440" y="987552"/>
            <a:ext cx="4023360" cy="228600"/>
          </a:xfrm>
          <a:prstGeom prst="rect">
            <a:avLst/>
          </a:prstGeom>
          <a:noFill/>
          <a:ln/>
        </p:spPr>
        <p:txBody>
          <a:bodyPr wrap="square" lIns="0" tIns="0" rIns="0" bIns="0" rtlCol="0" anchor="t"/>
          <a:lstStyle/>
          <a:p>
            <a:pPr indent="0" marL="0">
              <a:buNone/>
            </a:pPr>
            <a:r>
              <a:rPr lang="en-US" sz="1200" b="1" dirty="0">
                <a:solidFill>
                  <a:schemeClr val="tx1"/>
                </a:solidFill>
                <a:latin typeface="+mj-lt" pitchFamily="34" charset="0"/>
                <a:ea typeface="+mj-lt" pitchFamily="34" charset="-122"/>
                <a:cs typeface="+mj-lt" pitchFamily="34" charset="-120"/>
              </a:rPr>
              <a:t>Code</a:t>
            </a:r>
            <a:endParaRPr lang="en-US" sz="1200" dirty="0"/>
          </a:p>
        </p:txBody>
      </p:sp>
      <p:pic>
        <p:nvPicPr>
          <p:cNvPr id="6" name="Image 1" descr="/Users/sanatan/Documents/College/cs70x/CS756 Project-I/code/results/code/code_codebert_supcon_12k_curves.png">    </p:cNvPr>
          <p:cNvPicPr>
            <a:picLocks noChangeAspect="1"/>
          </p:cNvPicPr>
          <p:nvPr/>
        </p:nvPicPr>
        <p:blipFill>
          <a:blip r:embed="rId2"/>
          <a:stretch>
            <a:fillRect/>
          </a:stretch>
        </p:blipFill>
        <p:spPr>
          <a:xfrm>
            <a:off x="4663440" y="1216152"/>
            <a:ext cx="3657600" cy="1463040"/>
          </a:xfrm>
          <a:prstGeom prst="rect">
            <a:avLst/>
          </a:prstGeom>
        </p:spPr>
      </p:pic>
      <p:sp>
        <p:nvSpPr>
          <p:cNvPr id="7" name="Text 3"/>
          <p:cNvSpPr txBox="1"/>
          <p:nvPr/>
        </p:nvSpPr>
        <p:spPr>
          <a:xfrm>
            <a:off x="457200" y="2743200"/>
            <a:ext cx="4023360" cy="228600"/>
          </a:xfrm>
          <a:prstGeom prst="rect">
            <a:avLst/>
          </a:prstGeom>
          <a:noFill/>
          <a:ln/>
        </p:spPr>
        <p:txBody>
          <a:bodyPr wrap="square" lIns="0" tIns="0" rIns="0" bIns="0" rtlCol="0" anchor="t"/>
          <a:lstStyle/>
          <a:p>
            <a:pPr indent="0" marL="0">
              <a:buNone/>
            </a:pPr>
            <a:r>
              <a:rPr lang="en-US" sz="1200" b="1" dirty="0">
                <a:solidFill>
                  <a:schemeClr val="tx1"/>
                </a:solidFill>
                <a:latin typeface="+mj-lt" pitchFamily="34" charset="0"/>
                <a:ea typeface="+mj-lt" pitchFamily="34" charset="-122"/>
                <a:cs typeface="+mj-lt" pitchFamily="34" charset="-120"/>
              </a:rPr>
              <a:t>Images</a:t>
            </a:r>
            <a:endParaRPr lang="en-US" sz="1200" dirty="0"/>
          </a:p>
        </p:txBody>
      </p:sp>
      <p:pic>
        <p:nvPicPr>
          <p:cNvPr id="8" name="Image 2" descr="/Users/sanatan/Documents/College/cs70x/CS756 Project-I/code/results/image/image_genimage_curves.png">    </p:cNvPr>
          <p:cNvPicPr>
            <a:picLocks noChangeAspect="1"/>
          </p:cNvPicPr>
          <p:nvPr/>
        </p:nvPicPr>
        <p:blipFill>
          <a:blip r:embed="rId3"/>
          <a:stretch>
            <a:fillRect/>
          </a:stretch>
        </p:blipFill>
        <p:spPr>
          <a:xfrm>
            <a:off x="457200" y="2971800"/>
            <a:ext cx="3657600" cy="1463040"/>
          </a:xfrm>
          <a:prstGeom prst="rect">
            <a:avLst/>
          </a:prstGeom>
        </p:spPr>
      </p:pic>
      <p:sp>
        <p:nvSpPr>
          <p:cNvPr id="9" name="Text 4"/>
          <p:cNvSpPr txBox="1"/>
          <p:nvPr/>
        </p:nvSpPr>
        <p:spPr>
          <a:xfrm>
            <a:off x="4663440" y="2743200"/>
            <a:ext cx="4023360" cy="228600"/>
          </a:xfrm>
          <a:prstGeom prst="rect">
            <a:avLst/>
          </a:prstGeom>
          <a:noFill/>
          <a:ln/>
        </p:spPr>
        <p:txBody>
          <a:bodyPr wrap="square" lIns="0" tIns="0" rIns="0" bIns="0" rtlCol="0" anchor="t"/>
          <a:lstStyle/>
          <a:p>
            <a:pPr indent="0" marL="0">
              <a:buNone/>
            </a:pPr>
            <a:r>
              <a:rPr lang="en-US" sz="1200" b="1" dirty="0">
                <a:solidFill>
                  <a:schemeClr val="tx1"/>
                </a:solidFill>
                <a:latin typeface="+mj-lt" pitchFamily="34" charset="0"/>
                <a:ea typeface="+mj-lt" pitchFamily="34" charset="-122"/>
                <a:cs typeface="+mj-lt" pitchFamily="34" charset="-120"/>
              </a:rPr>
              <a:t>Voice (spectrogram CNN)</a:t>
            </a:r>
            <a:endParaRPr lang="en-US" sz="1200" dirty="0"/>
          </a:p>
        </p:txBody>
      </p:sp>
      <p:pic>
        <p:nvPicPr>
          <p:cNvPr id="10" name="Image 3" descr="/Users/sanatan/Documents/College/cs70x/CS756 Project-I/code/results/audio/audio_cnn_supcon_curves.png">    </p:cNvPr>
          <p:cNvPicPr>
            <a:picLocks noChangeAspect="1"/>
          </p:cNvPicPr>
          <p:nvPr/>
        </p:nvPicPr>
        <p:blipFill>
          <a:blip r:embed="rId4"/>
          <a:stretch>
            <a:fillRect/>
          </a:stretch>
        </p:blipFill>
        <p:spPr>
          <a:xfrm>
            <a:off x="4663440" y="2971800"/>
            <a:ext cx="3657600" cy="1463040"/>
          </a:xfrm>
          <a:prstGeom prst="rect">
            <a:avLst/>
          </a:prstGeom>
        </p:spPr>
      </p:pic>
      <p:sp>
        <p:nvSpPr>
          <p:cNvPr id="11" name="Text 5"/>
          <p:cNvSpPr txBox="1"/>
          <p:nvPr/>
        </p:nvSpPr>
        <p:spPr>
          <a:xfrm>
            <a:off x="457200" y="4498848"/>
            <a:ext cx="7589520" cy="228600"/>
          </a:xfrm>
          <a:prstGeom prst="rect">
            <a:avLst/>
          </a:prstGeom>
          <a:noFill/>
          <a:ln/>
        </p:spPr>
        <p:txBody>
          <a:bodyPr wrap="square" lIns="0" tIns="0" rIns="0" bIns="0" rtlCol="0" anchor="t"/>
          <a:lstStyle/>
          <a:p>
            <a:pPr indent="0" marL="0">
              <a:buNone/>
            </a:pPr>
            <a:r>
              <a:rPr lang="en-US" sz="1000" dirty="0">
                <a:solidFill>
                  <a:schemeClr val="tx2"/>
                </a:solidFill>
              </a:rPr>
              <a:t>Train minus test accuracy (pts): Essays +1.0   Code +1.2   Images +8.5   Voice +4.2. Voice is tested on unseen speakers.</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Which generators and attacks are hardest</a:t>
            </a:r>
            <a:endParaRPr lang="en-US" sz="2600" dirty="0"/>
          </a:p>
        </p:txBody>
      </p:sp>
      <p:graphicFrame>
        <p:nvGraphicFramePr>
          <p:cNvPr id="3" name="Chart 0" descr=""/>
          <p:cNvGraphicFramePr/>
          <p:nvPr/>
        </p:nvGraphicFramePr>
        <p:xfrm>
          <a:off x="457200" y="1097280"/>
          <a:ext cx="402336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97280"/>
          <a:ext cx="4023360" cy="34747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Catching a generator it never saw in training</a:t>
            </a:r>
            <a:endParaRPr lang="en-US" sz="2600" dirty="0"/>
          </a:p>
        </p:txBody>
      </p:sp>
      <p:graphicFrame>
        <p:nvGraphicFramePr>
          <p:cNvPr id="3" name="Chart 0" descr=""/>
          <p:cNvGraphicFramePr/>
          <p:nvPr/>
        </p:nvGraphicFramePr>
        <p:xfrm>
          <a:off x="457200" y="109728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35040" y="1234440"/>
            <a:ext cx="2651760" cy="3291840"/>
          </a:xfrm>
          <a:prstGeom prst="rect">
            <a:avLst/>
          </a:prstGeom>
          <a:noFill/>
          <a:ln/>
        </p:spPr>
        <p:txBody>
          <a:bodyPr wrap="square" lIns="0" tIns="0" rIns="0" bIns="0" rtlCol="0" anchor="t"/>
          <a:lstStyle/>
          <a:p>
            <a:pPr indent="0" marL="0">
              <a:spcAft>
                <a:spcPts val="1000"/>
              </a:spcAft>
              <a:buNone/>
            </a:pPr>
            <a:r>
              <a:rPr lang="en-US" sz="1300" b="1" dirty="0">
                <a:solidFill>
                  <a:schemeClr val="tx1"/>
                </a:solidFill>
              </a:rPr>
              <a:t>Leave-one-generator-out test</a:t>
            </a:r>
            <a:endParaRPr lang="en-US" sz="1300" dirty="0"/>
          </a:p>
          <a:p>
            <a:pPr indent="0" marL="0">
              <a:spcAft>
                <a:spcPts val="1000"/>
              </a:spcAft>
              <a:buNone/>
            </a:pPr>
            <a:r>
              <a:rPr lang="en-US" sz="1300" dirty="0">
                <a:solidFill>
                  <a:schemeClr val="tx1"/>
                </a:solidFill>
              </a:rPr>
              <a:t>All GPT-written code removed from training; the test set still contains it.</a:t>
            </a:r>
            <a:endParaRPr lang="en-US" sz="1300" dirty="0"/>
          </a:p>
          <a:p>
            <a:pPr indent="0" marL="0">
              <a:spcAft>
                <a:spcPts val="1000"/>
              </a:spcAft>
              <a:buNone/>
            </a:pPr>
            <a:r>
              <a:rPr lang="en-US" sz="1300" b="1" dirty="0">
                <a:solidFill>
                  <a:schemeClr val="tx1"/>
                </a:solidFill>
              </a:rPr>
              <a:t>Unseen GPT code is still caught 78–85% of the time (vs 94% when GPT is in training).</a:t>
            </a:r>
            <a:endParaRPr lang="en-US" sz="1300" dirty="0"/>
          </a:p>
          <a:p>
            <a:pPr indent="0" marL="0">
              <a:spcAft>
                <a:spcPts val="1000"/>
              </a:spcAft>
              <a:buNone/>
            </a:pPr>
            <a:r>
              <a:rPr lang="en-US" sz="1300" dirty="0">
                <a:solidFill>
                  <a:schemeClr val="tx2"/>
                </a:solidFill>
              </a:rPr>
              <a:t>SupCon vs cross-entropy: -7.0 pts (±10.7), within noise. At this scale contrastive learning gave no measurable gain.</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Watermarks hold only until the content is edited</a:t>
            </a:r>
            <a:endParaRPr lang="en-US" sz="2600" dirty="0"/>
          </a:p>
        </p:txBody>
      </p:sp>
      <p:graphicFrame>
        <p:nvGraphicFramePr>
          <p:cNvPr id="3" name="Chart 0" descr=""/>
          <p:cNvGraphicFramePr/>
          <p:nvPr/>
        </p:nvGraphicFramePr>
        <p:xfrm>
          <a:off x="457200" y="1097280"/>
          <a:ext cx="420624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846320" y="1097280"/>
          <a:ext cx="3840480" cy="329184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434840"/>
            <a:ext cx="8229600" cy="320040"/>
          </a:xfrm>
          <a:prstGeom prst="rect">
            <a:avLst/>
          </a:prstGeom>
          <a:noFill/>
          <a:ln/>
        </p:spPr>
        <p:txBody>
          <a:bodyPr wrap="square" lIns="0" tIns="0" rIns="0" bIns="0" rtlCol="0" anchor="t"/>
          <a:lstStyle/>
          <a:p>
            <a:pPr indent="0" marL="0">
              <a:buNone/>
            </a:pPr>
            <a:r>
              <a:rPr lang="en-US" sz="1200" dirty="0">
                <a:solidFill>
                  <a:schemeClr val="tx2"/>
                </a:solidFill>
              </a:rPr>
              <a:t>C2PA image credentials were lost after a single JPEG re-save. False positives on unwatermarked human content: 0% in every test.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The working system: drop in anything, get a verdict</a:t>
            </a:r>
            <a:endParaRPr lang="en-US" sz="2600" dirty="0"/>
          </a:p>
        </p:txBody>
      </p:sp>
      <p:pic>
        <p:nvPicPr>
          <p:cNvPr id="3" name="Image 0" descr="/Users/sanatan/Documents/College/cs70x/CS756 Project-I/Presentation/app_screenshot.png">    </p:cNvPr>
          <p:cNvPicPr>
            <a:picLocks noChangeAspect="1"/>
          </p:cNvPicPr>
          <p:nvPr/>
        </p:nvPicPr>
        <p:blipFill>
          <a:blip r:embed="rId1"/>
          <a:srcRect l="0" r="0" t="0" b="0"/>
          <a:stretch/>
        </p:blipFill>
        <p:spPr>
          <a:xfrm>
            <a:off x="457200" y="1051560"/>
            <a:ext cx="5394960" cy="3520440"/>
          </a:xfrm>
          <a:prstGeom prst="rect">
            <a:avLst/>
          </a:prstGeom>
        </p:spPr>
      </p:pic>
      <p:sp>
        <p:nvSpPr>
          <p:cNvPr id="4" name="Text 1"/>
          <p:cNvSpPr txBox="1"/>
          <p:nvPr/>
        </p:nvSpPr>
        <p:spPr>
          <a:xfrm>
            <a:off x="6126480" y="1188720"/>
            <a:ext cx="2560320" cy="3291840"/>
          </a:xfrm>
          <a:prstGeom prst="rect">
            <a:avLst/>
          </a:prstGeom>
          <a:noFill/>
          <a:ln/>
        </p:spPr>
        <p:txBody>
          <a:bodyPr wrap="square" lIns="0" tIns="0" rIns="0" bIns="0" rtlCol="0" anchor="t"/>
          <a:lstStyle/>
          <a:p>
            <a:pPr indent="0" marL="0">
              <a:spcAft>
                <a:spcPts val="800"/>
              </a:spcAft>
              <a:buNone/>
            </a:pPr>
            <a:r>
              <a:rPr lang="en-US" sz="1300" b="1" dirty="0">
                <a:solidFill>
                  <a:schemeClr val="tx1"/>
                </a:solidFill>
              </a:rPr>
              <a:t>Web app (FastAPI + custom front end)</a:t>
            </a:r>
            <a:endParaRPr lang="en-US" sz="1300" dirty="0"/>
          </a:p>
          <a:p>
            <a:pPr marL="342900" indent="-342900">
              <a:spcAft>
                <a:spcPts val="800"/>
              </a:spcAft>
              <a:buSzPct val="100000"/>
              <a:buChar char="•"/>
            </a:pPr>
            <a:r>
              <a:rPr lang="en-US" sz="1300" dirty="0">
                <a:solidFill>
                  <a:schemeClr val="tx1"/>
                </a:solidFill>
              </a:rPr>
              <a:t>Auto-detects the kind of file dropped in</a:t>
            </a:r>
            <a:endParaRPr lang="en-US" sz="1300" dirty="0"/>
          </a:p>
          <a:p>
            <a:pPr marL="342900" indent="-342900">
              <a:spcAft>
                <a:spcPts val="800"/>
              </a:spcAft>
              <a:buSzPct val="100000"/>
              <a:buChar char="•"/>
            </a:pPr>
            <a:r>
              <a:rPr lang="en-US" sz="1300" dirty="0">
                <a:solidFill>
                  <a:schemeClr val="tx1"/>
                </a:solidFill>
              </a:rPr>
              <a:t>Shows which layer decided, and the AI probability on a human-to-AI scale</a:t>
            </a:r>
            <a:endParaRPr lang="en-US" sz="1300" dirty="0"/>
          </a:p>
          <a:p>
            <a:pPr marL="342900" indent="-342900">
              <a:spcAft>
                <a:spcPts val="800"/>
              </a:spcAft>
              <a:buSzPct val="100000"/>
              <a:buChar char="•"/>
            </a:pPr>
            <a:r>
              <a:rPr lang="en-US" sz="1300" dirty="0">
                <a:solidFill>
                  <a:schemeClr val="tx1"/>
                </a:solidFill>
              </a:rPr>
              <a:t>Loads real held-out test samples and marks whether the model was right</a:t>
            </a:r>
            <a:endParaRPr lang="en-US" sz="1300" dirty="0"/>
          </a:p>
          <a:p>
            <a:pPr marL="342900" indent="-342900">
              <a:spcAft>
                <a:spcPts val="800"/>
              </a:spcAft>
              <a:buSzPct val="100000"/>
              <a:buChar char="•"/>
            </a:pPr>
            <a:r>
              <a:rPr lang="en-US" sz="1300" dirty="0">
                <a:solidFill>
                  <a:schemeClr val="tx1"/>
                </a:solidFill>
              </a:rPr>
              <a:t>Live results page with ROC and learning curves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What we found</a:t>
            </a:r>
            <a:endParaRPr lang="en-US" sz="2600" dirty="0"/>
          </a:p>
        </p:txBody>
      </p:sp>
      <p:sp>
        <p:nvSpPr>
          <p:cNvPr id="3" name="Shape 1"/>
          <p:cNvSpPr/>
          <p:nvPr/>
        </p:nvSpPr>
        <p:spPr>
          <a:xfrm>
            <a:off x="457200" y="1051560"/>
            <a:ext cx="438912" cy="438912"/>
          </a:xfrm>
          <a:prstGeom prst="ellipse">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562539" y="1156899"/>
            <a:ext cx="228234" cy="228234"/>
          </a:xfrm>
          <a:prstGeom prst="rect">
            <a:avLst/>
          </a:prstGeom>
        </p:spPr>
      </p:pic>
      <p:sp>
        <p:nvSpPr>
          <p:cNvPr id="5" name="Text 2"/>
          <p:cNvSpPr txBox="1"/>
          <p:nvPr/>
        </p:nvSpPr>
        <p:spPr>
          <a:xfrm>
            <a:off x="1051560" y="1014984"/>
            <a:ext cx="758952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High accuracy on held-out benchmark data</a:t>
            </a:r>
            <a:endParaRPr lang="en-US" sz="1500" dirty="0"/>
          </a:p>
        </p:txBody>
      </p:sp>
      <p:sp>
        <p:nvSpPr>
          <p:cNvPr id="6" name="Text 3"/>
          <p:cNvSpPr txBox="1"/>
          <p:nvPr/>
        </p:nvSpPr>
        <p:spPr>
          <a:xfrm>
            <a:off x="1051560" y="1307592"/>
            <a:ext cx="7589520" cy="365760"/>
          </a:xfrm>
          <a:prstGeom prst="rect">
            <a:avLst/>
          </a:prstGeom>
          <a:noFill/>
          <a:ln/>
        </p:spPr>
        <p:txBody>
          <a:bodyPr wrap="square" lIns="0" tIns="0" rIns="0" bIns="0" rtlCol="0" anchor="t"/>
          <a:lstStyle/>
          <a:p>
            <a:pPr indent="0" marL="0">
              <a:buNone/>
            </a:pPr>
            <a:r>
              <a:rPr lang="en-US" sz="1200" dirty="0">
                <a:solidFill>
                  <a:schemeClr val="tx2"/>
                </a:solidFill>
              </a:rPr>
              <a:t>Essays 98.3%, Code 97.6%, Images 90.7%, Voice 95.0%. Pretrained wav2vec 2.0 features lifted voice from 80.7%.</a:t>
            </a:r>
            <a:endParaRPr lang="en-US" sz="1200" dirty="0"/>
          </a:p>
        </p:txBody>
      </p:sp>
      <p:sp>
        <p:nvSpPr>
          <p:cNvPr id="7" name="Shape 4"/>
          <p:cNvSpPr/>
          <p:nvPr/>
        </p:nvSpPr>
        <p:spPr>
          <a:xfrm>
            <a:off x="457200" y="1783080"/>
            <a:ext cx="438912" cy="438912"/>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562539" y="1888419"/>
            <a:ext cx="228234" cy="228234"/>
          </a:xfrm>
          <a:prstGeom prst="rect">
            <a:avLst/>
          </a:prstGeom>
        </p:spPr>
      </p:pic>
      <p:sp>
        <p:nvSpPr>
          <p:cNvPr id="9" name="Text 5"/>
          <p:cNvSpPr txBox="1"/>
          <p:nvPr/>
        </p:nvSpPr>
        <p:spPr>
          <a:xfrm>
            <a:off x="1051560" y="1746504"/>
            <a:ext cx="758952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Ahead of popular public detectors</a:t>
            </a:r>
            <a:endParaRPr lang="en-US" sz="1500" dirty="0"/>
          </a:p>
        </p:txBody>
      </p:sp>
      <p:sp>
        <p:nvSpPr>
          <p:cNvPr id="10" name="Text 6"/>
          <p:cNvSpPr txBox="1"/>
          <p:nvPr/>
        </p:nvSpPr>
        <p:spPr>
          <a:xfrm>
            <a:off x="1051560" y="2039112"/>
            <a:ext cx="7589520" cy="365760"/>
          </a:xfrm>
          <a:prstGeom prst="rect">
            <a:avLst/>
          </a:prstGeom>
          <a:noFill/>
          <a:ln/>
        </p:spPr>
        <p:txBody>
          <a:bodyPr wrap="square" lIns="0" tIns="0" rIns="0" bIns="0" rtlCol="0" anchor="t"/>
          <a:lstStyle/>
          <a:p>
            <a:pPr indent="0" marL="0">
              <a:buNone/>
            </a:pPr>
            <a:r>
              <a:rPr lang="en-US" sz="1200" dirty="0">
                <a:solidFill>
                  <a:schemeClr val="tx2"/>
                </a:solidFill>
              </a:rPr>
              <a:t>Best in 2 of 3 benchmark comparisons; a CIFAKE-specialised model trained on 16× more data edges us on images.</a:t>
            </a:r>
            <a:endParaRPr lang="en-US" sz="1200" dirty="0"/>
          </a:p>
        </p:txBody>
      </p:sp>
      <p:sp>
        <p:nvSpPr>
          <p:cNvPr id="11" name="Shape 7"/>
          <p:cNvSpPr/>
          <p:nvPr/>
        </p:nvSpPr>
        <p:spPr>
          <a:xfrm>
            <a:off x="457200" y="2514600"/>
            <a:ext cx="438912" cy="438912"/>
          </a:xfrm>
          <a:prstGeom prst="ellipse">
            <a:avLst/>
          </a:prstGeom>
          <a:solidFill>
            <a:schemeClr val="accent3"/>
          </a:solidFill>
          <a:ln w="12700">
            <a:solidFill>
              <a:schemeClr val="accent3"/>
            </a:solidFill>
            <a:prstDash val="solid"/>
          </a:ln>
        </p:spPr>
      </p:sp>
      <p:pic>
        <p:nvPicPr>
          <p:cNvPr id="12" name="Image 2" descr="preencoded.png">    </p:cNvPr>
          <p:cNvPicPr>
            <a:picLocks noChangeAspect="1"/>
          </p:cNvPicPr>
          <p:nvPr/>
        </p:nvPicPr>
        <p:blipFill>
          <a:blip r:embed="rId3"/>
          <a:stretch>
            <a:fillRect/>
          </a:stretch>
        </p:blipFill>
        <p:spPr>
          <a:xfrm>
            <a:off x="562539" y="2619939"/>
            <a:ext cx="228234" cy="228234"/>
          </a:xfrm>
          <a:prstGeom prst="rect">
            <a:avLst/>
          </a:prstGeom>
        </p:spPr>
      </p:pic>
      <p:sp>
        <p:nvSpPr>
          <p:cNvPr id="13" name="Text 8"/>
          <p:cNvSpPr txBox="1"/>
          <p:nvPr/>
        </p:nvSpPr>
        <p:spPr>
          <a:xfrm>
            <a:off x="1051560" y="2478024"/>
            <a:ext cx="758952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Benchmarks overstate real-world accuracy</a:t>
            </a:r>
            <a:endParaRPr lang="en-US" sz="1500" dirty="0"/>
          </a:p>
        </p:txBody>
      </p:sp>
      <p:sp>
        <p:nvSpPr>
          <p:cNvPr id="14" name="Text 9"/>
          <p:cNvSpPr txBox="1"/>
          <p:nvPr/>
        </p:nvSpPr>
        <p:spPr>
          <a:xfrm>
            <a:off x="1051560" y="2770632"/>
            <a:ext cx="7589520" cy="365760"/>
          </a:xfrm>
          <a:prstGeom prst="rect">
            <a:avLst/>
          </a:prstGeom>
          <a:noFill/>
          <a:ln/>
        </p:spPr>
        <p:txBody>
          <a:bodyPr wrap="square" lIns="0" tIns="0" rIns="0" bIns="0" rtlCol="0" anchor="t"/>
          <a:lstStyle/>
          <a:p>
            <a:pPr indent="0" marL="0">
              <a:buNone/>
            </a:pPr>
            <a:r>
              <a:rPr lang="en-US" sz="1200" dirty="0">
                <a:solidFill>
                  <a:schemeClr val="tx2"/>
                </a:solidFill>
              </a:rPr>
              <a:t>All essay detectors drop on unseen models; ours fell to 57.1%, diverse training lifted it to 85.3%.</a:t>
            </a:r>
            <a:endParaRPr lang="en-US" sz="1200" dirty="0"/>
          </a:p>
        </p:txBody>
      </p:sp>
      <p:sp>
        <p:nvSpPr>
          <p:cNvPr id="15" name="Shape 10"/>
          <p:cNvSpPr/>
          <p:nvPr/>
        </p:nvSpPr>
        <p:spPr>
          <a:xfrm>
            <a:off x="457200" y="3246120"/>
            <a:ext cx="438912" cy="438912"/>
          </a:xfrm>
          <a:prstGeom prst="ellipse">
            <a:avLst/>
          </a:prstGeom>
          <a:solidFill>
            <a:schemeClr val="accent3"/>
          </a:solidFill>
          <a:ln w="12700">
            <a:solidFill>
              <a:schemeClr val="accent3"/>
            </a:solidFill>
            <a:prstDash val="solid"/>
          </a:ln>
        </p:spPr>
      </p:sp>
      <p:pic>
        <p:nvPicPr>
          <p:cNvPr id="16" name="Image 3" descr="preencoded.png">    </p:cNvPr>
          <p:cNvPicPr>
            <a:picLocks noChangeAspect="1"/>
          </p:cNvPicPr>
          <p:nvPr/>
        </p:nvPicPr>
        <p:blipFill>
          <a:blip r:embed="rId4"/>
          <a:stretch>
            <a:fillRect/>
          </a:stretch>
        </p:blipFill>
        <p:spPr>
          <a:xfrm>
            <a:off x="562539" y="3351459"/>
            <a:ext cx="228234" cy="228234"/>
          </a:xfrm>
          <a:prstGeom prst="rect">
            <a:avLst/>
          </a:prstGeom>
        </p:spPr>
      </p:pic>
      <p:sp>
        <p:nvSpPr>
          <p:cNvPr id="17" name="Text 11"/>
          <p:cNvSpPr txBox="1"/>
          <p:nvPr/>
        </p:nvSpPr>
        <p:spPr>
          <a:xfrm>
            <a:off x="1051560" y="3209544"/>
            <a:ext cx="758952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Contrastive loss: no measurable gain at this scale</a:t>
            </a:r>
            <a:endParaRPr lang="en-US" sz="1500" dirty="0"/>
          </a:p>
        </p:txBody>
      </p:sp>
      <p:sp>
        <p:nvSpPr>
          <p:cNvPr id="18" name="Text 12"/>
          <p:cNvSpPr txBox="1"/>
          <p:nvPr/>
        </p:nvSpPr>
        <p:spPr>
          <a:xfrm>
            <a:off x="1051560" y="3502152"/>
            <a:ext cx="7589520" cy="365760"/>
          </a:xfrm>
          <a:prstGeom prst="rect">
            <a:avLst/>
          </a:prstGeom>
          <a:noFill/>
          <a:ln/>
        </p:spPr>
        <p:txBody>
          <a:bodyPr wrap="square" lIns="0" tIns="0" rIns="0" bIns="0" rtlCol="0" anchor="t"/>
          <a:lstStyle/>
          <a:p>
            <a:pPr indent="0" marL="0">
              <a:buNone/>
            </a:pPr>
            <a:r>
              <a:rPr lang="en-US" sz="1200" dirty="0">
                <a:solidFill>
                  <a:schemeClr val="tx2"/>
                </a:solidFill>
              </a:rPr>
              <a:t>Every with/without difference sits inside the 95% confidence interval, including on an unseen generator.</a:t>
            </a:r>
            <a:endParaRPr lang="en-US" sz="1200" dirty="0"/>
          </a:p>
        </p:txBody>
      </p:sp>
      <p:sp>
        <p:nvSpPr>
          <p:cNvPr id="19" name="Shape 13"/>
          <p:cNvSpPr/>
          <p:nvPr/>
        </p:nvSpPr>
        <p:spPr>
          <a:xfrm>
            <a:off x="457200" y="3977640"/>
            <a:ext cx="438912" cy="438912"/>
          </a:xfrm>
          <a:prstGeom prst="ellipse">
            <a:avLst/>
          </a:prstGeom>
          <a:solidFill>
            <a:schemeClr val="accent1"/>
          </a:solidFill>
          <a:ln w="12700">
            <a:solidFill>
              <a:schemeClr val="accent1"/>
            </a:solidFill>
            <a:prstDash val="solid"/>
          </a:ln>
        </p:spPr>
      </p:sp>
      <p:pic>
        <p:nvPicPr>
          <p:cNvPr id="20" name="Image 4" descr="preencoded.png">    </p:cNvPr>
          <p:cNvPicPr>
            <a:picLocks noChangeAspect="1"/>
          </p:cNvPicPr>
          <p:nvPr/>
        </p:nvPicPr>
        <p:blipFill>
          <a:blip r:embed="rId5"/>
          <a:stretch>
            <a:fillRect/>
          </a:stretch>
        </p:blipFill>
        <p:spPr>
          <a:xfrm>
            <a:off x="562539" y="4082979"/>
            <a:ext cx="228234" cy="228234"/>
          </a:xfrm>
          <a:prstGeom prst="rect">
            <a:avLst/>
          </a:prstGeom>
        </p:spPr>
      </p:pic>
      <p:sp>
        <p:nvSpPr>
          <p:cNvPr id="21" name="Text 14"/>
          <p:cNvSpPr txBox="1"/>
          <p:nvPr/>
        </p:nvSpPr>
        <p:spPr>
          <a:xfrm>
            <a:off x="1051560" y="3941064"/>
            <a:ext cx="758952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Proof beats prediction when it exists</a:t>
            </a:r>
            <a:endParaRPr lang="en-US" sz="1500" dirty="0"/>
          </a:p>
        </p:txBody>
      </p:sp>
      <p:sp>
        <p:nvSpPr>
          <p:cNvPr id="22" name="Text 15"/>
          <p:cNvSpPr txBox="1"/>
          <p:nvPr/>
        </p:nvSpPr>
        <p:spPr>
          <a:xfrm>
            <a:off x="1051560" y="4233672"/>
            <a:ext cx="7589520" cy="365760"/>
          </a:xfrm>
          <a:prstGeom prst="rect">
            <a:avLst/>
          </a:prstGeom>
          <a:noFill/>
          <a:ln/>
        </p:spPr>
        <p:txBody>
          <a:bodyPr wrap="square" lIns="0" tIns="0" rIns="0" bIns="0" rtlCol="0" anchor="t"/>
          <a:lstStyle/>
          <a:p>
            <a:pPr indent="0" marL="0">
              <a:buNone/>
            </a:pPr>
            <a:r>
              <a:rPr lang="en-US" sz="1200" dirty="0">
                <a:solidFill>
                  <a:schemeClr val="tx2"/>
                </a:solidFill>
              </a:rPr>
              <a:t>Watermarks and C2PA are decisive when present but break under simple edits, so both layers are needed.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Limitations and next steps</a:t>
            </a:r>
            <a:endParaRPr lang="en-US" sz="2600" dirty="0"/>
          </a:p>
        </p:txBody>
      </p:sp>
      <p:sp>
        <p:nvSpPr>
          <p:cNvPr id="3" name="Text 1"/>
          <p:cNvSpPr txBox="1"/>
          <p:nvPr/>
        </p:nvSpPr>
        <p:spPr>
          <a:xfrm>
            <a:off x="457200" y="1097280"/>
            <a:ext cx="393192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Limitations</a:t>
            </a:r>
            <a:endParaRPr lang="en-US" sz="1800" dirty="0"/>
          </a:p>
        </p:txBody>
      </p:sp>
      <p:sp>
        <p:nvSpPr>
          <p:cNvPr id="4" name="Text 2"/>
          <p:cNvSpPr txBox="1"/>
          <p:nvPr/>
        </p:nvSpPr>
        <p:spPr>
          <a:xfrm>
            <a:off x="457200" y="1554480"/>
            <a:ext cx="393192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Accuracy drops on unseen generators and topics (see MAGE test)</a:t>
            </a:r>
            <a:endParaRPr lang="en-US" sz="1400" dirty="0"/>
          </a:p>
          <a:p>
            <a:pPr marL="342900" indent="-342900">
              <a:spcAft>
                <a:spcPts val="800"/>
              </a:spcAft>
              <a:buSzPct val="100000"/>
              <a:buChar char="•"/>
            </a:pPr>
            <a:r>
              <a:rPr lang="en-US" sz="1400" dirty="0">
                <a:solidFill>
                  <a:schemeClr val="tx1"/>
                </a:solidFill>
              </a:rPr>
              <a:t>Small training subsets on one laptop</a:t>
            </a:r>
            <a:endParaRPr lang="en-US" sz="1400" dirty="0"/>
          </a:p>
          <a:p>
            <a:pPr marL="342900" indent="-342900">
              <a:spcAft>
                <a:spcPts val="800"/>
              </a:spcAft>
              <a:buSzPct val="100000"/>
              <a:buChar char="•"/>
            </a:pPr>
            <a:r>
              <a:rPr lang="en-US" sz="1400" dirty="0">
                <a:solidFill>
                  <a:schemeClr val="tx1"/>
                </a:solidFill>
              </a:rPr>
              <a:t>Unseen generators stay hard (Midjourney held out: 56% caught)</a:t>
            </a:r>
            <a:endParaRPr lang="en-US" sz="1400" dirty="0"/>
          </a:p>
          <a:p>
            <a:pPr marL="342900" indent="-342900">
              <a:spcAft>
                <a:spcPts val="800"/>
              </a:spcAft>
              <a:buSzPct val="100000"/>
              <a:buChar char="•"/>
            </a:pPr>
            <a:r>
              <a:rPr lang="en-US" sz="1400" dirty="0">
                <a:solidFill>
                  <a:schemeClr val="tx1"/>
                </a:solidFill>
              </a:rPr>
              <a:t>Google's SynthID image/audio detectors aren't public; we use open equivalents</a:t>
            </a:r>
            <a:endParaRPr lang="en-US" sz="1400" dirty="0"/>
          </a:p>
          <a:p>
            <a:pPr marL="342900" indent="-342900">
              <a:spcAft>
                <a:spcPts val="800"/>
              </a:spcAft>
              <a:buSzPct val="100000"/>
              <a:buChar char="•"/>
            </a:pPr>
            <a:r>
              <a:rPr lang="en-US" sz="1400" dirty="0">
                <a:solidFill>
                  <a:schemeClr val="tx1"/>
                </a:solidFill>
              </a:rPr>
              <a:t>Text and code detectors see only English and Python</a:t>
            </a:r>
            <a:endParaRPr lang="en-US" sz="1400" dirty="0"/>
          </a:p>
        </p:txBody>
      </p:sp>
      <p:sp>
        <p:nvSpPr>
          <p:cNvPr id="5" name="Text 3"/>
          <p:cNvSpPr txBox="1"/>
          <p:nvPr/>
        </p:nvSpPr>
        <p:spPr>
          <a:xfrm>
            <a:off x="4754880" y="1097280"/>
            <a:ext cx="3931920" cy="365760"/>
          </a:xfrm>
          <a:prstGeom prst="rect">
            <a:avLst/>
          </a:prstGeom>
          <a:noFill/>
          <a:ln/>
        </p:spPr>
        <p:txBody>
          <a:bodyPr wrap="square" lIns="0" tIns="0" rIns="0" bIns="0" rtlCol="0" anchor="t"/>
          <a:lstStyle/>
          <a:p>
            <a:pPr indent="0" marL="0">
              <a:buNone/>
            </a:pPr>
            <a:r>
              <a:rPr lang="en-US" sz="1800" b="1" dirty="0">
                <a:solidFill>
                  <a:schemeClr val="accent2"/>
                </a:solidFill>
                <a:latin typeface="+mj-lt" pitchFamily="34" charset="0"/>
                <a:ea typeface="+mj-lt" pitchFamily="34" charset="-122"/>
                <a:cs typeface="+mj-lt" pitchFamily="34" charset="-120"/>
              </a:rPr>
              <a:t>Next steps</a:t>
            </a:r>
            <a:endParaRPr lang="en-US" sz="1800" dirty="0"/>
          </a:p>
        </p:txBody>
      </p:sp>
      <p:sp>
        <p:nvSpPr>
          <p:cNvPr id="6" name="Text 4"/>
          <p:cNvSpPr txBox="1"/>
          <p:nvPr/>
        </p:nvSpPr>
        <p:spPr>
          <a:xfrm>
            <a:off x="4754880" y="1554480"/>
            <a:ext cx="393192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Full datasets and longer training on a GPU</a:t>
            </a:r>
            <a:endParaRPr lang="en-US" sz="1400" dirty="0"/>
          </a:p>
          <a:p>
            <a:pPr marL="342900" indent="-342900">
              <a:spcAft>
                <a:spcPts val="800"/>
              </a:spcAft>
              <a:buSzPct val="100000"/>
              <a:buChar char="•"/>
            </a:pPr>
            <a:r>
              <a:rPr lang="en-US" sz="1400" dirty="0">
                <a:solidFill>
                  <a:schemeClr val="tx1"/>
                </a:solidFill>
              </a:rPr>
              <a:t>Test voice on newer synthesis (ASVspoof 5) and fine-tune wav2vec 2.0</a:t>
            </a:r>
            <a:endParaRPr lang="en-US" sz="1400" dirty="0"/>
          </a:p>
          <a:p>
            <a:pPr marL="342900" indent="-342900">
              <a:spcAft>
                <a:spcPts val="800"/>
              </a:spcAft>
              <a:buSzPct val="100000"/>
              <a:buChar char="•"/>
            </a:pPr>
            <a:r>
              <a:rPr lang="en-US" sz="1400" dirty="0">
                <a:solidFill>
                  <a:schemeClr val="tx1"/>
                </a:solidFill>
              </a:rPr>
              <a:t>Train on many more generators; retest contrastive loss with larger batches</a:t>
            </a:r>
            <a:endParaRPr lang="en-US" sz="1400" dirty="0"/>
          </a:p>
          <a:p>
            <a:pPr marL="342900" indent="-342900">
              <a:spcAft>
                <a:spcPts val="800"/>
              </a:spcAft>
              <a:buSzPct val="100000"/>
              <a:buChar char="•"/>
            </a:pPr>
            <a:r>
              <a:rPr lang="en-US" sz="1400" dirty="0">
                <a:solidFill>
                  <a:schemeClr val="tx1"/>
                </a:solidFill>
              </a:rPr>
              <a:t>Extend code detection beyond Python</a:t>
            </a:r>
            <a:endParaRPr lang="en-US" sz="1400" dirty="0"/>
          </a:p>
          <a:p>
            <a:pPr marL="342900" indent="-342900">
              <a:spcAft>
                <a:spcPts val="800"/>
              </a:spcAft>
              <a:buSzPct val="100000"/>
              <a:buChar char="•"/>
            </a:pPr>
            <a:r>
              <a:rPr lang="en-US" sz="1400" dirty="0">
                <a:solidFill>
                  <a:schemeClr val="tx1"/>
                </a:solidFill>
              </a:rPr>
              <a:t>Robustness training against paraphrase and compression</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algn="l" indent="0" marL="0">
              <a:buNone/>
            </a:pPr>
            <a:r>
              <a:rPr lang="en-US" sz="1800" dirty="0">
                <a:solidFill>
                  <a:schemeClr val="accent5"/>
                </a:solidFill>
              </a:rPr>
              <a:t>Questions, and a live demo</a:t>
            </a:r>
            <a:endParaRPr lang="en-US" sz="1800" dirty="0"/>
          </a:p>
        </p:txBody>
      </p:sp>
    </p:spTree>
  </p:cSld>
  <p:clrMapOvr>
    <a:masterClrMapping/>
  </p:clrMapOvr>
</p:sld>
</file>

<file path=ppt/theme/theme1.xml><?xml version="1.0" encoding="utf-8"?>
<a:theme xmlns:a="http://schemas.openxmlformats.org/drawingml/2006/main" name="Provenance Lab">
  <a:themeElements>
    <a:clrScheme name="Provenance Lab">
      <a:dk1>
        <a:srgbClr val="13202A"/>
      </a:dk1>
      <a:lt1>
        <a:srgbClr val="FFFFFF"/>
      </a:lt1>
      <a:dk2>
        <a:srgbClr val="4A5A66"/>
      </a:dk2>
      <a:lt2>
        <a:srgbClr val="E6ECEE"/>
      </a:lt2>
      <a:accent1>
        <a:srgbClr val="5A3FD0"/>
      </a:accent1>
      <a:accent2>
        <a:srgbClr val="1D7A57"/>
      </a:accent2>
      <a:accent3>
        <a:srgbClr val="C24A12"/>
      </a:accent3>
      <a:accent4>
        <a:srgbClr val="B08A1E"/>
      </a:accent4>
      <a:accent5>
        <a:srgbClr val="8E7BE6"/>
      </a:accent5>
      <a:accent6>
        <a:srgbClr val="9AA8B1"/>
      </a:accent6>
      <a:hlink>
        <a:srgbClr val="5A3FD0"/>
      </a:hlink>
      <a:folHlink>
        <a:srgbClr val="4A31B8"/>
      </a:folHlink>
    </a:clrScheme>
    <a:fontScheme name="Provenance La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Provenance Lab</dc:title>
  <dc:subject>PptxGenJS Presentation</dc:subject>
  <dc:creator>Sanatan Sharma, Ryanveer Singh</dc:creator>
  <cp:lastModifiedBy>Sanatan Sharma, Ryanveer Singh</cp:lastModifiedBy>
  <cp:revision>1</cp:revision>
  <dcterms:created xsi:type="dcterms:W3CDTF">2026-10-10T10:04:02Z</dcterms:created>
  <dcterms:modified xsi:type="dcterms:W3CDTF">2026-10-10T10:04:02Z</dcterms:modified>
</cp:coreProperties>
</file>